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3"/>
  </p:sldMasterIdLst>
  <p:notesMasterIdLst>
    <p:notesMasterId r:id="rId61"/>
  </p:notesMasterIdLst>
  <p:sldIdLst>
    <p:sldId id="257" r:id="rId4"/>
    <p:sldId id="421" r:id="rId5"/>
    <p:sldId id="419" r:id="rId6"/>
    <p:sldId id="258" r:id="rId7"/>
    <p:sldId id="367" r:id="rId8"/>
    <p:sldId id="346" r:id="rId9"/>
    <p:sldId id="348" r:id="rId10"/>
    <p:sldId id="368" r:id="rId11"/>
    <p:sldId id="354" r:id="rId12"/>
    <p:sldId id="347" r:id="rId13"/>
    <p:sldId id="362" r:id="rId14"/>
    <p:sldId id="363" r:id="rId15"/>
    <p:sldId id="364" r:id="rId16"/>
    <p:sldId id="365" r:id="rId17"/>
    <p:sldId id="366" r:id="rId18"/>
    <p:sldId id="416" r:id="rId19"/>
    <p:sldId id="402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4" r:id="rId29"/>
    <p:sldId id="385" r:id="rId30"/>
    <p:sldId id="387" r:id="rId31"/>
    <p:sldId id="386" r:id="rId32"/>
    <p:sldId id="417" r:id="rId33"/>
    <p:sldId id="418" r:id="rId34"/>
    <p:sldId id="389" r:id="rId35"/>
    <p:sldId id="390" r:id="rId36"/>
    <p:sldId id="391" r:id="rId37"/>
    <p:sldId id="369" r:id="rId38"/>
    <p:sldId id="392" r:id="rId39"/>
    <p:sldId id="408" r:id="rId40"/>
    <p:sldId id="412" r:id="rId41"/>
    <p:sldId id="409" r:id="rId42"/>
    <p:sldId id="410" r:id="rId43"/>
    <p:sldId id="411" r:id="rId44"/>
    <p:sldId id="406" r:id="rId45"/>
    <p:sldId id="413" r:id="rId46"/>
    <p:sldId id="370" r:id="rId47"/>
    <p:sldId id="371" r:id="rId48"/>
    <p:sldId id="372" r:id="rId49"/>
    <p:sldId id="400" r:id="rId50"/>
    <p:sldId id="399" r:id="rId51"/>
    <p:sldId id="407" r:id="rId52"/>
    <p:sldId id="398" r:id="rId53"/>
    <p:sldId id="403" r:id="rId54"/>
    <p:sldId id="295" r:id="rId55"/>
    <p:sldId id="414" r:id="rId56"/>
    <p:sldId id="422" r:id="rId57"/>
    <p:sldId id="415" r:id="rId58"/>
    <p:sldId id="423" r:id="rId59"/>
    <p:sldId id="401" r:id="rId60"/>
  </p:sldIdLst>
  <p:sldSz cx="9144000" cy="5143500" type="screen16x9"/>
  <p:notesSz cx="6858000" cy="9144000"/>
  <p:embeddedFontLst>
    <p:embeddedFont>
      <p:font typeface="Bookman Old Style" panose="02050604050505020204" pitchFamily="18" charset="0"/>
      <p:regular r:id="rId62"/>
      <p:bold r:id="rId63"/>
      <p:italic r:id="rId64"/>
      <p:boldItalic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  <p:embeddedFont>
      <p:font typeface="DM Sans" pitchFamily="2" charset="77"/>
      <p:regular r:id="rId70"/>
      <p:bold r:id="rId71"/>
      <p:italic r:id="rId72"/>
      <p:boldItalic r:id="rId73"/>
    </p:embeddedFont>
    <p:embeddedFont>
      <p:font typeface="Lora" pitchFamily="2" charset="77"/>
      <p:regular r:id="rId74"/>
      <p:bold r:id="rId75"/>
      <p:italic r:id="rId76"/>
      <p:boldItalic r:id="rId77"/>
    </p:embeddedFont>
    <p:embeddedFont>
      <p:font typeface="Open Sans" panose="020B0606030504020204" pitchFamily="34" charset="0"/>
      <p:regular r:id="rId78"/>
      <p:bold r:id="rId79"/>
      <p:italic r:id="rId80"/>
      <p:boldItalic r:id="rId81"/>
    </p:embeddedFont>
    <p:embeddedFont>
      <p:font typeface="Raleway" pitchFamily="2" charset="77"/>
      <p:regular r:id="rId82"/>
      <p:bold r:id="rId83"/>
      <p:italic r:id="rId84"/>
      <p:boldItalic r:id="rId85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7E43F591-EDD5-4557-AB23-FCF2124EFDF7}">
          <p14:sldIdLst>
            <p14:sldId id="257"/>
            <p14:sldId id="421"/>
            <p14:sldId id="419"/>
            <p14:sldId id="258"/>
            <p14:sldId id="367"/>
            <p14:sldId id="346"/>
            <p14:sldId id="348"/>
            <p14:sldId id="368"/>
            <p14:sldId id="354"/>
            <p14:sldId id="347"/>
            <p14:sldId id="362"/>
            <p14:sldId id="363"/>
            <p14:sldId id="364"/>
            <p14:sldId id="365"/>
            <p14:sldId id="366"/>
            <p14:sldId id="416"/>
            <p14:sldId id="402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4"/>
            <p14:sldId id="385"/>
            <p14:sldId id="387"/>
            <p14:sldId id="386"/>
            <p14:sldId id="417"/>
            <p14:sldId id="418"/>
            <p14:sldId id="389"/>
            <p14:sldId id="390"/>
            <p14:sldId id="391"/>
            <p14:sldId id="369"/>
            <p14:sldId id="392"/>
            <p14:sldId id="408"/>
            <p14:sldId id="412"/>
            <p14:sldId id="409"/>
            <p14:sldId id="410"/>
            <p14:sldId id="411"/>
            <p14:sldId id="406"/>
            <p14:sldId id="413"/>
            <p14:sldId id="370"/>
            <p14:sldId id="371"/>
            <p14:sldId id="372"/>
            <p14:sldId id="400"/>
            <p14:sldId id="399"/>
            <p14:sldId id="407"/>
            <p14:sldId id="398"/>
            <p14:sldId id="403"/>
            <p14:sldId id="295"/>
            <p14:sldId id="414"/>
            <p14:sldId id="422"/>
            <p14:sldId id="415"/>
            <p14:sldId id="423"/>
            <p14:sldId id="401"/>
          </p14:sldIdLst>
        </p14:section>
        <p14:section name="Below are templates" id="{C3DE3470-47D7-48AC-A5B2-878172F862B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96B03E-4681-4BA5-9B92-FE9AE09768B3}">
  <a:tblStyle styleId="{9F96B03E-4681-4BA5-9B92-FE9AE09768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7"/>
  </p:normalViewPr>
  <p:slideViewPr>
    <p:cSldViewPr snapToGrid="0">
      <p:cViewPr varScale="1">
        <p:scale>
          <a:sx n="133" d="100"/>
          <a:sy n="133" d="100"/>
        </p:scale>
        <p:origin x="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openxmlformats.org/officeDocument/2006/relationships/font" Target="fonts/font23.fntdata"/><Relationship Id="rId89" Type="http://schemas.openxmlformats.org/officeDocument/2006/relationships/tableStyles" Target="tableStyle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2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font" Target="fonts/font24.fntdata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font" Target="fonts/font22.fntdata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font" Target="fonts/font20.fntdata"/><Relationship Id="rId86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15.fntdata"/><Relationship Id="rId7" Type="http://schemas.openxmlformats.org/officeDocument/2006/relationships/slide" Target="slides/slide4.xml"/><Relationship Id="rId71" Type="http://schemas.openxmlformats.org/officeDocument/2006/relationships/font" Target="fonts/font1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5.fntdata"/><Relationship Id="rId87" Type="http://schemas.openxmlformats.org/officeDocument/2006/relationships/viewProps" Target="viewProps.xml"/><Relationship Id="rId61" Type="http://schemas.openxmlformats.org/officeDocument/2006/relationships/notesMaster" Target="notesMasters/notesMaster1.xml"/><Relationship Id="rId82" Type="http://schemas.openxmlformats.org/officeDocument/2006/relationships/font" Target="fonts/font21.fntdata"/><Relationship Id="rId19" Type="http://schemas.openxmlformats.org/officeDocument/2006/relationships/slide" Target="slides/slide1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  <a:t>Budget - $100,000</a:t>
            </a:r>
          </a:p>
        </c:rich>
      </c:tx>
      <c:layout>
        <c:manualLayout>
          <c:xMode val="edge"/>
          <c:yMode val="edge"/>
          <c:x val="0.28472535238107"/>
          <c:y val="1.25000000000000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D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1E-4F01-A5C7-F689AEE177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1E-4F01-A5C7-F689AEE177C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1E-4F01-A5C7-F689AEE177C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E-4F01-A5C7-F689AEE177C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A1E-4F01-A5C7-F689AEE177CA}"/>
              </c:ext>
            </c:extLst>
          </c:dPt>
          <c:cat>
            <c:strRef>
              <c:f>Sheet1!$A$2:$A$6</c:f>
              <c:strCache>
                <c:ptCount val="5"/>
                <c:pt idx="0">
                  <c:v>Staffing</c:v>
                </c:pt>
                <c:pt idx="1">
                  <c:v>Marketing and advertising</c:v>
                </c:pt>
                <c:pt idx="2">
                  <c:v>Office set up and utilities</c:v>
                </c:pt>
                <c:pt idx="3">
                  <c:v>legal and miscellaneous</c:v>
                </c:pt>
                <c:pt idx="4">
                  <c:v>Technology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0.47</c:v>
                </c:pt>
                <c:pt idx="1">
                  <c:v>0.15</c:v>
                </c:pt>
                <c:pt idx="2">
                  <c:v>0.2</c:v>
                </c:pt>
                <c:pt idx="3">
                  <c:v>0.1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B5-4FBA-834C-8EF8F22D3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D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3;n">
            <a:extLst>
              <a:ext uri="{FF2B5EF4-FFF2-40B4-BE49-F238E27FC236}">
                <a16:creationId xmlns:a16="http://schemas.microsoft.com/office/drawing/2014/main" id="{7270CFF2-4914-B091-60C3-AD6B28B77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Google Shape;4;n">
            <a:extLst>
              <a:ext uri="{FF2B5EF4-FFF2-40B4-BE49-F238E27FC236}">
                <a16:creationId xmlns:a16="http://schemas.microsoft.com/office/drawing/2014/main" id="{6EA8FE8D-32D1-2FB3-257B-16D8F681D68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243;p:notes">
            <a:extLst>
              <a:ext uri="{FF2B5EF4-FFF2-40B4-BE49-F238E27FC236}">
                <a16:creationId xmlns:a16="http://schemas.microsoft.com/office/drawing/2014/main" id="{B646D383-4AA6-A80E-91CE-DDFD74451F5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2771" name="Google Shape;244;p:notes">
            <a:extLst>
              <a:ext uri="{FF2B5EF4-FFF2-40B4-BE49-F238E27FC236}">
                <a16:creationId xmlns:a16="http://schemas.microsoft.com/office/drawing/2014/main" id="{EB346380-7F37-BBBD-FCF2-68DBF126803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7630D5-7261-ED1E-1CC7-93DB7C1B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9BA2A511-8ED6-9EEF-3630-7FD106CD8A0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7EB0BA4A-869B-8500-8AD9-E1F19B0D942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79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90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249;gdb0f9523dd_0_25301:notes">
            <a:extLst>
              <a:ext uri="{FF2B5EF4-FFF2-40B4-BE49-F238E27FC236}">
                <a16:creationId xmlns:a16="http://schemas.microsoft.com/office/drawing/2014/main" id="{666350C2-069B-7023-B052-73CFBB8D6A2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250;gdb0f9523dd_0_25301:notes">
            <a:extLst>
              <a:ext uri="{FF2B5EF4-FFF2-40B4-BE49-F238E27FC236}">
                <a16:creationId xmlns:a16="http://schemas.microsoft.com/office/drawing/2014/main" id="{E8A36AA0-0EAA-BB60-3598-804D839A58C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765;gdd0c7d16c6_0_62:notes">
            <a:extLst>
              <a:ext uri="{FF2B5EF4-FFF2-40B4-BE49-F238E27FC236}">
                <a16:creationId xmlns:a16="http://schemas.microsoft.com/office/drawing/2014/main" id="{066B2B7E-7344-583C-83BE-0055E388CBE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98307" name="Google Shape;766;gdd0c7d16c6_0_62:notes">
            <a:extLst>
              <a:ext uri="{FF2B5EF4-FFF2-40B4-BE49-F238E27FC236}">
                <a16:creationId xmlns:a16="http://schemas.microsoft.com/office/drawing/2014/main" id="{3978E356-D7C7-C74A-66A9-8A9268565C4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139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Google Shape;1062;gdb0f9523dd_0_215:notes">
            <a:extLst>
              <a:ext uri="{FF2B5EF4-FFF2-40B4-BE49-F238E27FC236}">
                <a16:creationId xmlns:a16="http://schemas.microsoft.com/office/drawing/2014/main" id="{EAA0F7B0-FE8B-1DDE-38E1-9D0A909E8EF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35171" name="Google Shape;1063;gdb0f9523dd_0_215:notes">
            <a:extLst>
              <a:ext uri="{FF2B5EF4-FFF2-40B4-BE49-F238E27FC236}">
                <a16:creationId xmlns:a16="http://schemas.microsoft.com/office/drawing/2014/main" id="{58E2871B-04B0-706E-6925-80E432C05A5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027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Google Shape;796;ge013acee29_0_45:notes">
            <a:extLst>
              <a:ext uri="{FF2B5EF4-FFF2-40B4-BE49-F238E27FC236}">
                <a16:creationId xmlns:a16="http://schemas.microsoft.com/office/drawing/2014/main" id="{06D3BCD7-8AC7-795F-D0B5-AFE4023C52F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4451" name="Google Shape;797;ge013acee29_0_45:notes">
            <a:extLst>
              <a:ext uri="{FF2B5EF4-FFF2-40B4-BE49-F238E27FC236}">
                <a16:creationId xmlns:a16="http://schemas.microsoft.com/office/drawing/2014/main" id="{E83CB53D-1AD9-4F5B-B725-E000682FC21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739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765;gdd0c7d16c6_0_62:notes">
            <a:extLst>
              <a:ext uri="{FF2B5EF4-FFF2-40B4-BE49-F238E27FC236}">
                <a16:creationId xmlns:a16="http://schemas.microsoft.com/office/drawing/2014/main" id="{066B2B7E-7344-583C-83BE-0055E388CBE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98307" name="Google Shape;766;gdd0c7d16c6_0_62:notes">
            <a:extLst>
              <a:ext uri="{FF2B5EF4-FFF2-40B4-BE49-F238E27FC236}">
                <a16:creationId xmlns:a16="http://schemas.microsoft.com/office/drawing/2014/main" id="{3978E356-D7C7-C74A-66A9-8A9268565C4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04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959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474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225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227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84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984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41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765;gdd0c7d16c6_0_62:notes">
            <a:extLst>
              <a:ext uri="{FF2B5EF4-FFF2-40B4-BE49-F238E27FC236}">
                <a16:creationId xmlns:a16="http://schemas.microsoft.com/office/drawing/2014/main" id="{066B2B7E-7344-583C-83BE-0055E388CBE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98307" name="Google Shape;766;gdd0c7d16c6_0_62:notes">
            <a:extLst>
              <a:ext uri="{FF2B5EF4-FFF2-40B4-BE49-F238E27FC236}">
                <a16:creationId xmlns:a16="http://schemas.microsoft.com/office/drawing/2014/main" id="{3978E356-D7C7-C74A-66A9-8A9268565C4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05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959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474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225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89BEBEC-95AD-C3B9-7A3E-4851AE5D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F4185CE6-89A0-244C-4304-8A74CB36DD3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363C3C94-16AB-351D-29A0-248A015D237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40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15B134-702D-C525-DFCD-A85B962C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88FAF550-B2B4-0F8E-C8F9-4A6C92E31A2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3628F804-9AD2-83BD-4559-16D28AC1BB9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0568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9E3DA2A-9C8D-84DC-5A5D-EC679521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5E23C82E-FB0D-A5CA-5C5A-93AF116E55D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F063C69A-FCB4-A8FB-2FBB-243DA6CE5F3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8308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CAB7AA9-8EC8-13A5-17F6-22389D2A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D8A00830-F662-7BD2-0025-A3758B839DA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0752BE1D-5407-C913-4AC4-9A06F752A38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187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843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9844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106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0198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3834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909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9637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15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056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5006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9916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0038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Google Shape;1022;g13f3876e864_0_622:notes">
            <a:extLst>
              <a:ext uri="{FF2B5EF4-FFF2-40B4-BE49-F238E27FC236}">
                <a16:creationId xmlns:a16="http://schemas.microsoft.com/office/drawing/2014/main" id="{C2EDF11E-73E6-B4F3-04CA-08199B61B24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6979" name="Google Shape;1023;g13f3876e864_0_622:notes">
            <a:extLst>
              <a:ext uri="{FF2B5EF4-FFF2-40B4-BE49-F238E27FC236}">
                <a16:creationId xmlns:a16="http://schemas.microsoft.com/office/drawing/2014/main" id="{B319FA48-05A9-F3DB-A74E-A4DA753DF63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8702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Google Shape;1029;g13f3876e864_0_645:notes">
            <a:extLst>
              <a:ext uri="{FF2B5EF4-FFF2-40B4-BE49-F238E27FC236}">
                <a16:creationId xmlns:a16="http://schemas.microsoft.com/office/drawing/2014/main" id="{7876D030-16C5-3E84-779D-F6F50D578A1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9027" name="Google Shape;1030;g13f3876e864_0_645:notes">
            <a:extLst>
              <a:ext uri="{FF2B5EF4-FFF2-40B4-BE49-F238E27FC236}">
                <a16:creationId xmlns:a16="http://schemas.microsoft.com/office/drawing/2014/main" id="{07205D07-FB32-959E-0D4E-AFC14A60E81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9457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Google Shape;965;gdb0f9523dd_0_275:notes">
            <a:extLst>
              <a:ext uri="{FF2B5EF4-FFF2-40B4-BE49-F238E27FC236}">
                <a16:creationId xmlns:a16="http://schemas.microsoft.com/office/drawing/2014/main" id="{BF99E031-F197-4A27-E534-5FF299D2EDC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20835" name="Google Shape;966;gdb0f9523dd_0_275:notes">
            <a:extLst>
              <a:ext uri="{FF2B5EF4-FFF2-40B4-BE49-F238E27FC236}">
                <a16:creationId xmlns:a16="http://schemas.microsoft.com/office/drawing/2014/main" id="{9A60EEEB-8DCB-4850-1882-B2B43FA5E3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600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869;g13f3876e864_0_510:notes">
            <a:extLst>
              <a:ext uri="{FF2B5EF4-FFF2-40B4-BE49-F238E27FC236}">
                <a16:creationId xmlns:a16="http://schemas.microsoft.com/office/drawing/2014/main" id="{EF075567-E4A7-EB88-41DC-0CE9CB68F18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10595" name="Google Shape;870;g13f3876e864_0_510:notes">
            <a:extLst>
              <a:ext uri="{FF2B5EF4-FFF2-40B4-BE49-F238E27FC236}">
                <a16:creationId xmlns:a16="http://schemas.microsoft.com/office/drawing/2014/main" id="{686B1BCD-4DB7-F133-EE48-12D03F13455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979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7418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765;gdd0c7d16c6_0_62:notes">
            <a:extLst>
              <a:ext uri="{FF2B5EF4-FFF2-40B4-BE49-F238E27FC236}">
                <a16:creationId xmlns:a16="http://schemas.microsoft.com/office/drawing/2014/main" id="{066B2B7E-7344-583C-83BE-0055E388CBE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98307" name="Google Shape;766;gdd0c7d16c6_0_62:notes">
            <a:extLst>
              <a:ext uri="{FF2B5EF4-FFF2-40B4-BE49-F238E27FC236}">
                <a16:creationId xmlns:a16="http://schemas.microsoft.com/office/drawing/2014/main" id="{3978E356-D7C7-C74A-66A9-8A9268565C4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8945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2643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Google Shape;1194;gdb0f9523dd_0_154:notes">
            <a:extLst>
              <a:ext uri="{FF2B5EF4-FFF2-40B4-BE49-F238E27FC236}">
                <a16:creationId xmlns:a16="http://schemas.microsoft.com/office/drawing/2014/main" id="{CEFA5D27-0DA6-C00C-D98E-A06B6799DA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47459" name="Google Shape;1195;gdb0f9523dd_0_154:notes">
            <a:extLst>
              <a:ext uri="{FF2B5EF4-FFF2-40B4-BE49-F238E27FC236}">
                <a16:creationId xmlns:a16="http://schemas.microsoft.com/office/drawing/2014/main" id="{491963DA-8ACF-3E86-66C2-BEEFB01A68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8656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Google Shape;1614;gdb0f9523dd_0_421:notes">
            <a:extLst>
              <a:ext uri="{FF2B5EF4-FFF2-40B4-BE49-F238E27FC236}">
                <a16:creationId xmlns:a16="http://schemas.microsoft.com/office/drawing/2014/main" id="{FC24A8BA-5848-8B94-962E-49635229265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6371" name="Google Shape;1615;gdb0f9523dd_0_421:notes">
            <a:extLst>
              <a:ext uri="{FF2B5EF4-FFF2-40B4-BE49-F238E27FC236}">
                <a16:creationId xmlns:a16="http://schemas.microsoft.com/office/drawing/2014/main" id="{EE37AB43-B51A-E4CE-079F-C5CF86CF6C8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;p2">
            <a:extLst>
              <a:ext uri="{FF2B5EF4-FFF2-40B4-BE49-F238E27FC236}">
                <a16:creationId xmlns:a16="http://schemas.microsoft.com/office/drawing/2014/main" id="{54C5E51F-DB02-7D52-2A4D-27C3622396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549275"/>
            <a:ext cx="7724775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Google Shape;12;p2">
            <a:extLst>
              <a:ext uri="{FF2B5EF4-FFF2-40B4-BE49-F238E27FC236}">
                <a16:creationId xmlns:a16="http://schemas.microsoft.com/office/drawing/2014/main" id="{E8DD7E13-6322-0C0B-885E-2FC224458D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Google Shape;13;p2">
            <a:extLst>
              <a:ext uri="{FF2B5EF4-FFF2-40B4-BE49-F238E27FC236}">
                <a16:creationId xmlns:a16="http://schemas.microsoft.com/office/drawing/2014/main" id="{CF0D6C29-F66D-81B8-E1E6-65A2A9425CC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9835" y="1077175"/>
            <a:ext cx="5016300" cy="25038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3B71"/>
              </a:buClr>
              <a:buSzPts val="7200"/>
              <a:buNone/>
              <a:defRPr sz="7200">
                <a:solidFill>
                  <a:srgbClr val="003B7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640350"/>
            <a:ext cx="5020800" cy="426000"/>
          </a:xfrm>
          <a:prstGeom prst="rect">
            <a:avLst/>
          </a:prstGeom>
          <a:ln w="9525" cap="flat" cmpd="sng">
            <a:solidFill>
              <a:srgbClr val="003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608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232625" y="1682175"/>
            <a:ext cx="3368100" cy="13299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Font typeface="Lora"/>
              <a:buNone/>
              <a:defRPr sz="40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930425" y="1749993"/>
            <a:ext cx="1188600" cy="1188600"/>
          </a:xfrm>
          <a:prstGeom prst="rect">
            <a:avLst/>
          </a:prstGeom>
          <a:noFill/>
          <a:ln w="9525" cap="flat" cmpd="sng">
            <a:solidFill>
              <a:srgbClr val="003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anchor="ctr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Font typeface="DM Sans"/>
              <a:buNone/>
              <a:defRPr sz="65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30425" y="3114225"/>
            <a:ext cx="4670100" cy="347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ra"/>
              <a:buNone/>
              <a:defRPr sz="1600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740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723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695150" y="833975"/>
            <a:ext cx="5753700" cy="34755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739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44;p9">
            <a:extLst>
              <a:ext uri="{FF2B5EF4-FFF2-40B4-BE49-F238E27FC236}">
                <a16:creationId xmlns:a16="http://schemas.microsoft.com/office/drawing/2014/main" id="{DE9883CF-9FFB-1B8A-ECE4-A7FE3EA765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45;p9">
            <a:extLst>
              <a:ext uri="{FF2B5EF4-FFF2-40B4-BE49-F238E27FC236}">
                <a16:creationId xmlns:a16="http://schemas.microsoft.com/office/drawing/2014/main" id="{84B045D4-39F6-A7B6-B9FF-0E9BF933CBE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720000" y="1506330"/>
            <a:ext cx="3899700" cy="2496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600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48;p10">
            <a:extLst>
              <a:ext uri="{FF2B5EF4-FFF2-40B4-BE49-F238E27FC236}">
                <a16:creationId xmlns:a16="http://schemas.microsoft.com/office/drawing/2014/main" id="{19786037-2E71-B549-99C5-C5C12F6C90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549275"/>
            <a:ext cx="7724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Google Shape;49;p10">
            <a:extLst>
              <a:ext uri="{FF2B5EF4-FFF2-40B4-BE49-F238E27FC236}">
                <a16:creationId xmlns:a16="http://schemas.microsoft.com/office/drawing/2014/main" id="{7583B477-B122-1817-CFAD-14C3927718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Google Shape;50;p10">
            <a:extLst>
              <a:ext uri="{FF2B5EF4-FFF2-40B4-BE49-F238E27FC236}">
                <a16:creationId xmlns:a16="http://schemas.microsoft.com/office/drawing/2014/main" id="{819FE664-EA75-516A-6CA2-D8DF72A0185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713225" y="734075"/>
            <a:ext cx="4592100" cy="13599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anchor="ctr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ora"/>
              <a:buNone/>
              <a:defRPr sz="2800">
                <a:latin typeface="Lora"/>
                <a:ea typeface="Lora"/>
                <a:cs typeface="Lora"/>
                <a:sym typeface="Lora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03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22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1_1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86;p16">
            <a:extLst>
              <a:ext uri="{FF2B5EF4-FFF2-40B4-BE49-F238E27FC236}">
                <a16:creationId xmlns:a16="http://schemas.microsoft.com/office/drawing/2014/main" id="{D8C07B86-04B8-AE9B-F17B-C92A1D6DB2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7724775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Google Shape;87;p16">
            <a:extLst>
              <a:ext uri="{FF2B5EF4-FFF2-40B4-BE49-F238E27FC236}">
                <a16:creationId xmlns:a16="http://schemas.microsoft.com/office/drawing/2014/main" id="{7CDDA17F-405B-4876-2BED-0F513FFE9F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533400"/>
            <a:ext cx="7724775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921750" y="2393975"/>
            <a:ext cx="4512000" cy="13299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title" idx="2"/>
          </p:nvPr>
        </p:nvSpPr>
        <p:spPr>
          <a:xfrm>
            <a:off x="3923715" y="1072493"/>
            <a:ext cx="1188600" cy="1188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anchor="ctr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1"/>
          </p:nvPr>
        </p:nvSpPr>
        <p:spPr>
          <a:xfrm>
            <a:off x="3921750" y="3723900"/>
            <a:ext cx="4508700" cy="3471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449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3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90;p17">
            <a:extLst>
              <a:ext uri="{FF2B5EF4-FFF2-40B4-BE49-F238E27FC236}">
                <a16:creationId xmlns:a16="http://schemas.microsoft.com/office/drawing/2014/main" id="{BED3C0EB-A9DA-1683-2EC5-E2829CDCCB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91;p17">
            <a:extLst>
              <a:ext uri="{FF2B5EF4-FFF2-40B4-BE49-F238E27FC236}">
                <a16:creationId xmlns:a16="http://schemas.microsoft.com/office/drawing/2014/main" id="{47D8A136-B470-1650-CB03-2F476CDBE67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3765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138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59;p26">
            <a:extLst>
              <a:ext uri="{FF2B5EF4-FFF2-40B4-BE49-F238E27FC236}">
                <a16:creationId xmlns:a16="http://schemas.microsoft.com/office/drawing/2014/main" id="{49B305A8-8E05-E8FC-511E-C9B0497B1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160;p26">
            <a:extLst>
              <a:ext uri="{FF2B5EF4-FFF2-40B4-BE49-F238E27FC236}">
                <a16:creationId xmlns:a16="http://schemas.microsoft.com/office/drawing/2014/main" id="{68418D33-CB0A-04EC-C31A-B80CF54A6E6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1722458" y="1561134"/>
            <a:ext cx="2825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title" idx="2"/>
          </p:nvPr>
        </p:nvSpPr>
        <p:spPr>
          <a:xfrm>
            <a:off x="5457026" y="1561134"/>
            <a:ext cx="2825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ubTitle" idx="1"/>
          </p:nvPr>
        </p:nvSpPr>
        <p:spPr>
          <a:xfrm>
            <a:off x="1722458" y="1931658"/>
            <a:ext cx="2825400" cy="5727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subTitle" idx="3"/>
          </p:nvPr>
        </p:nvSpPr>
        <p:spPr>
          <a:xfrm>
            <a:off x="5457026" y="1932259"/>
            <a:ext cx="2825400" cy="5727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title" idx="4"/>
          </p:nvPr>
        </p:nvSpPr>
        <p:spPr>
          <a:xfrm>
            <a:off x="1722458" y="3182375"/>
            <a:ext cx="2825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title" idx="5"/>
          </p:nvPr>
        </p:nvSpPr>
        <p:spPr>
          <a:xfrm>
            <a:off x="5455376" y="3182375"/>
            <a:ext cx="282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subTitle" idx="6"/>
          </p:nvPr>
        </p:nvSpPr>
        <p:spPr>
          <a:xfrm>
            <a:off x="1722458" y="3555066"/>
            <a:ext cx="2825400" cy="5727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subTitle" idx="7"/>
          </p:nvPr>
        </p:nvSpPr>
        <p:spPr>
          <a:xfrm>
            <a:off x="5455376" y="3555066"/>
            <a:ext cx="2828700" cy="5727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6303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>
            <a:spLocks noGrp="1"/>
          </p:cNvSpPr>
          <p:nvPr>
            <p:ph type="title"/>
          </p:nvPr>
        </p:nvSpPr>
        <p:spPr>
          <a:xfrm>
            <a:off x="720006" y="19733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title" idx="2"/>
          </p:nvPr>
        </p:nvSpPr>
        <p:spPr>
          <a:xfrm>
            <a:off x="3440469" y="19733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1"/>
          </p:nvPr>
        </p:nvSpPr>
        <p:spPr>
          <a:xfrm>
            <a:off x="720000" y="2165775"/>
            <a:ext cx="2263200" cy="572700"/>
          </a:xfrm>
          <a:prstGeom prst="rect">
            <a:avLst/>
          </a:prstGeom>
          <a:ln>
            <a:noFill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ubTitle" idx="3"/>
          </p:nvPr>
        </p:nvSpPr>
        <p:spPr>
          <a:xfrm>
            <a:off x="3440464" y="2165775"/>
            <a:ext cx="2263200" cy="572700"/>
          </a:xfrm>
          <a:prstGeom prst="rect">
            <a:avLst/>
          </a:prstGeom>
          <a:ln>
            <a:noFill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title" idx="4"/>
          </p:nvPr>
        </p:nvSpPr>
        <p:spPr>
          <a:xfrm>
            <a:off x="720006" y="3723751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 idx="5"/>
          </p:nvPr>
        </p:nvSpPr>
        <p:spPr>
          <a:xfrm>
            <a:off x="3440469" y="3723751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subTitle" idx="6"/>
          </p:nvPr>
        </p:nvSpPr>
        <p:spPr>
          <a:xfrm>
            <a:off x="720000" y="3916226"/>
            <a:ext cx="2263200" cy="572700"/>
          </a:xfrm>
          <a:prstGeom prst="rect">
            <a:avLst/>
          </a:prstGeom>
          <a:ln>
            <a:noFill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7"/>
          </p:nvPr>
        </p:nvSpPr>
        <p:spPr>
          <a:xfrm>
            <a:off x="3440464" y="3916226"/>
            <a:ext cx="2263200" cy="572700"/>
          </a:xfrm>
          <a:prstGeom prst="rect">
            <a:avLst/>
          </a:prstGeom>
          <a:ln>
            <a:noFill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title" idx="9"/>
          </p:nvPr>
        </p:nvSpPr>
        <p:spPr>
          <a:xfrm>
            <a:off x="6160938" y="19733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subTitle" idx="13"/>
          </p:nvPr>
        </p:nvSpPr>
        <p:spPr>
          <a:xfrm>
            <a:off x="6160932" y="2165775"/>
            <a:ext cx="2263200" cy="572700"/>
          </a:xfrm>
          <a:prstGeom prst="rect">
            <a:avLst/>
          </a:prstGeom>
          <a:ln>
            <a:noFill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 idx="14"/>
          </p:nvPr>
        </p:nvSpPr>
        <p:spPr>
          <a:xfrm>
            <a:off x="6160938" y="3723751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15"/>
          </p:nvPr>
        </p:nvSpPr>
        <p:spPr>
          <a:xfrm>
            <a:off x="6160932" y="3916226"/>
            <a:ext cx="2263200" cy="572700"/>
          </a:xfrm>
          <a:prstGeom prst="rect">
            <a:avLst/>
          </a:prstGeom>
          <a:ln>
            <a:noFill/>
          </a:ln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6566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9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99;p29">
            <a:extLst>
              <a:ext uri="{FF2B5EF4-FFF2-40B4-BE49-F238E27FC236}">
                <a16:creationId xmlns:a16="http://schemas.microsoft.com/office/drawing/2014/main" id="{498FD94B-F35E-BE7D-A0F4-A15FA6B1E7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200;p29">
            <a:extLst>
              <a:ext uri="{FF2B5EF4-FFF2-40B4-BE49-F238E27FC236}">
                <a16:creationId xmlns:a16="http://schemas.microsoft.com/office/drawing/2014/main" id="{A3A6067F-FAA1-16AB-2E7D-17F48D63604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Google Shape;188;p29"/>
          <p:cNvSpPr txBox="1">
            <a:spLocks noGrp="1"/>
          </p:cNvSpPr>
          <p:nvPr>
            <p:ph type="subTitle" idx="1"/>
          </p:nvPr>
        </p:nvSpPr>
        <p:spPr>
          <a:xfrm>
            <a:off x="1338963" y="184477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2"/>
          </p:nvPr>
        </p:nvSpPr>
        <p:spPr>
          <a:xfrm>
            <a:off x="1338938" y="251762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subTitle" idx="3"/>
          </p:nvPr>
        </p:nvSpPr>
        <p:spPr>
          <a:xfrm>
            <a:off x="1338963" y="319047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4"/>
          </p:nvPr>
        </p:nvSpPr>
        <p:spPr>
          <a:xfrm>
            <a:off x="1338938" y="386332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720000" y="4118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subTitle" idx="5"/>
          </p:nvPr>
        </p:nvSpPr>
        <p:spPr>
          <a:xfrm>
            <a:off x="1338963" y="117192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6"/>
          </p:nvPr>
        </p:nvSpPr>
        <p:spPr>
          <a:xfrm>
            <a:off x="5294338" y="184477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subTitle" idx="7"/>
          </p:nvPr>
        </p:nvSpPr>
        <p:spPr>
          <a:xfrm>
            <a:off x="5294312" y="251762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8"/>
          </p:nvPr>
        </p:nvSpPr>
        <p:spPr>
          <a:xfrm>
            <a:off x="5294337" y="319047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ubTitle" idx="9"/>
          </p:nvPr>
        </p:nvSpPr>
        <p:spPr>
          <a:xfrm>
            <a:off x="5294312" y="386332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13"/>
          </p:nvPr>
        </p:nvSpPr>
        <p:spPr>
          <a:xfrm>
            <a:off x="5294338" y="1171926"/>
            <a:ext cx="3060900" cy="474000"/>
          </a:xfrm>
          <a:prstGeom prst="rect">
            <a:avLst/>
          </a:prstGeom>
          <a:ln>
            <a:noFill/>
          </a:ln>
        </p:spPr>
        <p:txBody>
          <a:bodyPr spcFirstLastPara="1" anchor="ctr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1472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3">
  <p:cSld name="CUSTOM_6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216;p32">
            <a:extLst>
              <a:ext uri="{FF2B5EF4-FFF2-40B4-BE49-F238E27FC236}">
                <a16:creationId xmlns:a16="http://schemas.microsoft.com/office/drawing/2014/main" id="{9F60627D-9AD2-996B-A2CD-BC8E3E74AD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217;p32">
            <a:extLst>
              <a:ext uri="{FF2B5EF4-FFF2-40B4-BE49-F238E27FC236}">
                <a16:creationId xmlns:a16="http://schemas.microsoft.com/office/drawing/2014/main" id="{5F1FBE42-5094-9125-E26F-5B6AD359ADD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Google Shape;214;p32"/>
          <p:cNvSpPr txBox="1">
            <a:spLocks noGrp="1"/>
          </p:cNvSpPr>
          <p:nvPr>
            <p:ph type="subTitle" idx="1"/>
          </p:nvPr>
        </p:nvSpPr>
        <p:spPr>
          <a:xfrm>
            <a:off x="720000" y="1133400"/>
            <a:ext cx="7704000" cy="75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444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1">
  <p:cSld name="CUSTOM_6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221;p33">
            <a:extLst>
              <a:ext uri="{FF2B5EF4-FFF2-40B4-BE49-F238E27FC236}">
                <a16:creationId xmlns:a16="http://schemas.microsoft.com/office/drawing/2014/main" id="{99875698-B117-2710-7058-E7FA50EF85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222;p33">
            <a:extLst>
              <a:ext uri="{FF2B5EF4-FFF2-40B4-BE49-F238E27FC236}">
                <a16:creationId xmlns:a16="http://schemas.microsoft.com/office/drawing/2014/main" id="{B3526698-94FD-58F7-E127-4C2F8DDAC1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9" name="Google Shape;219;p33"/>
          <p:cNvSpPr txBox="1">
            <a:spLocks noGrp="1"/>
          </p:cNvSpPr>
          <p:nvPr>
            <p:ph type="subTitle" idx="1"/>
          </p:nvPr>
        </p:nvSpPr>
        <p:spPr>
          <a:xfrm>
            <a:off x="720000" y="1160950"/>
            <a:ext cx="7704000" cy="3225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7649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227;p34">
            <a:extLst>
              <a:ext uri="{FF2B5EF4-FFF2-40B4-BE49-F238E27FC236}">
                <a16:creationId xmlns:a16="http://schemas.microsoft.com/office/drawing/2014/main" id="{C80D3322-0A63-4885-3548-57D4DD1C78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6094412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Google Shape;228;p34">
            <a:extLst>
              <a:ext uri="{FF2B5EF4-FFF2-40B4-BE49-F238E27FC236}">
                <a16:creationId xmlns:a16="http://schemas.microsoft.com/office/drawing/2014/main" id="{925A429A-858A-0F3A-A30B-1448D3D299C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0" r="14748"/>
          <a:stretch>
            <a:fillRect/>
          </a:stretch>
        </p:blipFill>
        <p:spPr bwMode="auto">
          <a:xfrm>
            <a:off x="7040563" y="4065588"/>
            <a:ext cx="1393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" name="Google Shape;224;p34"/>
          <p:cNvSpPr txBox="1">
            <a:spLocks noGrp="1"/>
          </p:cNvSpPr>
          <p:nvPr>
            <p:ph type="ctrTitle"/>
          </p:nvPr>
        </p:nvSpPr>
        <p:spPr>
          <a:xfrm>
            <a:off x="2564850" y="750850"/>
            <a:ext cx="4014300" cy="7443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3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subTitle" idx="1"/>
          </p:nvPr>
        </p:nvSpPr>
        <p:spPr>
          <a:xfrm>
            <a:off x="2566521" y="1503650"/>
            <a:ext cx="4012200" cy="399900"/>
          </a:xfrm>
          <a:prstGeom prst="rect">
            <a:avLst/>
          </a:prstGeom>
          <a:ln w="9525" cap="flat" cmpd="sng">
            <a:solidFill>
              <a:srgbClr val="003B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anchor="ctr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subTitle" idx="2"/>
          </p:nvPr>
        </p:nvSpPr>
        <p:spPr>
          <a:xfrm>
            <a:off x="2566163" y="1903558"/>
            <a:ext cx="4012200" cy="744300"/>
          </a:xfrm>
          <a:prstGeom prst="rect">
            <a:avLst/>
          </a:prstGeom>
        </p:spPr>
        <p:txBody>
          <a:bodyPr spcFirstLastPara="1" anchor="ctr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3250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2198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84C05E14-C974-0F08-D588-4737B610E202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BB56A52D-F286-E5EA-2482-8BB1B45DB88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10" r:id="rId3"/>
    <p:sldLayoutId id="2147483711" r:id="rId4"/>
    <p:sldLayoutId id="2147483725" r:id="rId5"/>
    <p:sldLayoutId id="2147483726" r:id="rId6"/>
    <p:sldLayoutId id="2147483728" r:id="rId7"/>
    <p:sldLayoutId id="2147483730" r:id="rId8"/>
    <p:sldLayoutId id="2147483731" r:id="rId9"/>
    <p:sldLayoutId id="2147483715" r:id="rId10"/>
    <p:sldLayoutId id="2147483737" r:id="rId11"/>
    <p:sldLayoutId id="2147483717" r:id="rId12"/>
    <p:sldLayoutId id="2147483739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246;p39">
            <a:extLst>
              <a:ext uri="{FF2B5EF4-FFF2-40B4-BE49-F238E27FC236}">
                <a16:creationId xmlns:a16="http://schemas.microsoft.com/office/drawing/2014/main" id="{F28C035F-C92D-9FFC-B31E-1ADBBB6C6D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2788" y="3294580"/>
            <a:ext cx="5021262" cy="425450"/>
          </a:xfrm>
          <a:ln>
            <a:noFill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sz="2000" b="1" dirty="0">
                <a:solidFill>
                  <a:srgbClr val="003B71"/>
                </a:solidFill>
                <a:cs typeface="Arial"/>
                <a:sym typeface="DM Sans" pitchFamily="2" charset="0"/>
              </a:rPr>
              <a:t>Canadian Digital Marketing Firm</a:t>
            </a:r>
            <a:endParaRPr lang="en-US" altLang="en-US" sz="2000" b="1" dirty="0">
              <a:solidFill>
                <a:srgbClr val="003B71"/>
              </a:solidFill>
              <a:cs typeface="Arial"/>
            </a:endParaRPr>
          </a:p>
        </p:txBody>
      </p:sp>
      <p:sp>
        <p:nvSpPr>
          <p:cNvPr id="31747" name="Google Shape;247;p39">
            <a:extLst>
              <a:ext uri="{FF2B5EF4-FFF2-40B4-BE49-F238E27FC236}">
                <a16:creationId xmlns:a16="http://schemas.microsoft.com/office/drawing/2014/main" id="{57E15987-207D-3DC6-12B3-C75E70BF96A9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715963" y="862013"/>
            <a:ext cx="5016500" cy="2503487"/>
          </a:xfrm>
        </p:spPr>
        <p:txBody>
          <a:bodyPr/>
          <a:lstStyle/>
          <a:p>
            <a:pPr algn="l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</a:pPr>
            <a:r>
              <a:rPr lang="en-US" altLang="en-US" sz="4500" dirty="0"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MARKET RESEARCH AND GTM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4173-6144-49FD-3BA9-7C77D921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97;p95">
            <a:extLst>
              <a:ext uri="{FF2B5EF4-FFF2-40B4-BE49-F238E27FC236}">
                <a16:creationId xmlns:a16="http://schemas.microsoft.com/office/drawing/2014/main" id="{A4AE5853-2D38-9E98-0B88-77F247B5C76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441343" y="281598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EXECUTIVE SUMMARY</a:t>
            </a:r>
            <a:endParaRPr lang="en-US" sz="32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E4507-3A7F-D320-6389-25AA6201BD89}"/>
              </a:ext>
            </a:extLst>
          </p:cNvPr>
          <p:cNvSpPr txBox="1"/>
          <p:nvPr/>
        </p:nvSpPr>
        <p:spPr>
          <a:xfrm>
            <a:off x="441343" y="928206"/>
            <a:ext cx="826131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3B71"/>
                </a:solidFill>
                <a:latin typeface="Bookman Old Style" panose="02050604050505020204" pitchFamily="18" charset="0"/>
              </a:rPr>
              <a:t>Company Overview</a:t>
            </a:r>
            <a:r>
              <a:rPr lang="en-US" b="1" dirty="0">
                <a:latin typeface="Bookman Old Style" panose="02050604050505020204" pitchFamily="18" charset="0"/>
              </a:rPr>
              <a:t>:</a:t>
            </a:r>
          </a:p>
          <a:p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The company is a </a:t>
            </a:r>
            <a:r>
              <a:rPr lang="en-US" b="0" i="0" dirty="0">
                <a:solidFill>
                  <a:schemeClr val="tx2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Canadian digital marketing firm seeking to expand its business into the U.S. market.</a:t>
            </a: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dirty="0"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rgbClr val="003B71"/>
                </a:solidFill>
                <a:latin typeface="Bookman Old Style" panose="02050604050505020204" pitchFamily="18" charset="0"/>
              </a:rPr>
              <a:t>Market Opportunity</a:t>
            </a:r>
            <a:r>
              <a:rPr lang="en-US" b="1" dirty="0">
                <a:latin typeface="Bookman Old Style" panose="02050604050505020204" pitchFamily="18" charset="0"/>
              </a:rPr>
              <a:t>: </a:t>
            </a:r>
          </a:p>
          <a:p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  <a:t>High-growth cities in united states show untapped growth potential for Digital Marketing in trade sector.</a:t>
            </a:r>
            <a:br>
              <a:rPr lang="en-US" dirty="0">
                <a:latin typeface="Bookman Old Style" panose="02050604050505020204" pitchFamily="18" charset="0"/>
              </a:rPr>
            </a:br>
            <a:endParaRPr lang="en-US" dirty="0">
              <a:latin typeface="Bookman Old Style" panose="02050604050505020204" pitchFamily="18" charset="0"/>
            </a:endParaRPr>
          </a:p>
          <a:p>
            <a:br>
              <a:rPr lang="en-US" sz="1050" dirty="0"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rgbClr val="003B71"/>
                </a:solidFill>
                <a:latin typeface="Bookman Old Style" panose="02050604050505020204" pitchFamily="18" charset="0"/>
              </a:rPr>
              <a:t>GTM Strategy</a:t>
            </a:r>
            <a:r>
              <a:rPr lang="en-US" b="1" dirty="0">
                <a:latin typeface="Bookman Old Style" panose="02050604050505020204" pitchFamily="18" charset="0"/>
              </a:rPr>
              <a:t>:</a:t>
            </a:r>
            <a:br>
              <a:rPr lang="en-US" sz="1050" dirty="0"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  <a:t>The go-to-market strategy focuses on capturing market share through robust market research, strategic positioning, and effective brand awareness campaigns tailored to diverse business needs.</a:t>
            </a:r>
          </a:p>
          <a:p>
            <a:endParaRPr lang="en-US" sz="1050" dirty="0">
              <a:latin typeface="Bookman Old Style" panose="02050604050505020204" pitchFamily="18" charset="0"/>
            </a:endParaRPr>
          </a:p>
          <a:p>
            <a:r>
              <a:rPr lang="en-US" b="1" dirty="0">
                <a:solidFill>
                  <a:srgbClr val="003B71"/>
                </a:solidFill>
                <a:latin typeface="Bookman Old Style" panose="02050604050505020204" pitchFamily="18" charset="0"/>
              </a:rPr>
              <a:t>Goals</a:t>
            </a:r>
            <a:r>
              <a:rPr lang="en-US" b="1" dirty="0">
                <a:latin typeface="Bookman Old Style" panose="02050604050505020204" pitchFamily="18" charset="0"/>
              </a:rPr>
              <a:t>:</a:t>
            </a:r>
            <a:br>
              <a:rPr lang="en-US" sz="1050" dirty="0">
                <a:latin typeface="Bookman Old Style" panose="02050604050505020204" pitchFamily="18" charset="0"/>
              </a:rPr>
            </a:br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  <a:t>Achieve rapid customer acquisition, acquire market share, and drive scalable growth with a strong focus on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411097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97;p95">
            <a:extLst>
              <a:ext uri="{FF2B5EF4-FFF2-40B4-BE49-F238E27FC236}">
                <a16:creationId xmlns:a16="http://schemas.microsoft.com/office/drawing/2014/main" id="{7DCA076D-C9F9-A937-7AB1-91E4C9C26AF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49308" y="265455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</a:rPr>
              <a:t>RECOMMENDATIONS</a:t>
            </a:r>
            <a:endParaRPr lang="en-US" sz="18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F9799-25B8-7B01-550E-75DF53C93D25}"/>
              </a:ext>
            </a:extLst>
          </p:cNvPr>
          <p:cNvSpPr txBox="1"/>
          <p:nvPr/>
        </p:nvSpPr>
        <p:spPr>
          <a:xfrm>
            <a:off x="728331" y="1050630"/>
            <a:ext cx="7753790" cy="1497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Choose Raleigh as Entry Point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Track ROI of marketing efforts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Expand the business to Boise based on the outcomes from Raleigh</a:t>
            </a:r>
          </a:p>
        </p:txBody>
      </p:sp>
    </p:spTree>
    <p:extLst>
      <p:ext uri="{BB962C8B-B14F-4D97-AF65-F5344CB8AC3E}">
        <p14:creationId xmlns:p14="http://schemas.microsoft.com/office/powerpoint/2010/main" val="194909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252;p40">
            <a:extLst>
              <a:ext uri="{FF2B5EF4-FFF2-40B4-BE49-F238E27FC236}">
                <a16:creationId xmlns:a16="http://schemas.microsoft.com/office/drawing/2014/main" id="{3888CFAD-74C4-7452-6AC4-9BF8C53D63F3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>
          <a:xfrm>
            <a:off x="1338263" y="1844675"/>
            <a:ext cx="3062287" cy="4746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Market Analysis</a:t>
            </a:r>
          </a:p>
        </p:txBody>
      </p:sp>
      <p:sp>
        <p:nvSpPr>
          <p:cNvPr id="33795" name="Google Shape;253;p40">
            <a:extLst>
              <a:ext uri="{FF2B5EF4-FFF2-40B4-BE49-F238E27FC236}">
                <a16:creationId xmlns:a16="http://schemas.microsoft.com/office/drawing/2014/main" id="{DF009A49-8AFB-4A3D-6B01-EC040E980A31}"/>
              </a:ext>
            </a:extLst>
          </p:cNvPr>
          <p:cNvSpPr txBox="1">
            <a:spLocks noGrp="1" noChangeArrowheads="1"/>
          </p:cNvSpPr>
          <p:nvPr>
            <p:ph type="subTitle" idx="2"/>
          </p:nvPr>
        </p:nvSpPr>
        <p:spPr>
          <a:xfrm>
            <a:off x="1338263" y="2517775"/>
            <a:ext cx="3062287" cy="47307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Competitor Analysis</a:t>
            </a:r>
          </a:p>
        </p:txBody>
      </p:sp>
      <p:sp>
        <p:nvSpPr>
          <p:cNvPr id="33796" name="Google Shape;254;p40">
            <a:extLst>
              <a:ext uri="{FF2B5EF4-FFF2-40B4-BE49-F238E27FC236}">
                <a16:creationId xmlns:a16="http://schemas.microsoft.com/office/drawing/2014/main" id="{906D5425-0861-3467-7257-8A157AE2B4A9}"/>
              </a:ext>
            </a:extLst>
          </p:cNvPr>
          <p:cNvSpPr txBox="1">
            <a:spLocks noGrp="1" noChangeArrowheads="1"/>
          </p:cNvSpPr>
          <p:nvPr>
            <p:ph type="subTitle" idx="3"/>
          </p:nvPr>
        </p:nvSpPr>
        <p:spPr>
          <a:xfrm>
            <a:off x="1338263" y="3190875"/>
            <a:ext cx="3062287" cy="47307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Entry Strategy</a:t>
            </a:r>
          </a:p>
        </p:txBody>
      </p:sp>
      <p:sp>
        <p:nvSpPr>
          <p:cNvPr id="33797" name="Google Shape;255;p40">
            <a:extLst>
              <a:ext uri="{FF2B5EF4-FFF2-40B4-BE49-F238E27FC236}">
                <a16:creationId xmlns:a16="http://schemas.microsoft.com/office/drawing/2014/main" id="{50274473-089B-43D1-F226-F059C74F9AA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11163"/>
            <a:ext cx="7702550" cy="57308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OVERVIEW</a:t>
            </a:r>
          </a:p>
        </p:txBody>
      </p:sp>
      <p:sp>
        <p:nvSpPr>
          <p:cNvPr id="33798" name="Google Shape;256;p40">
            <a:extLst>
              <a:ext uri="{FF2B5EF4-FFF2-40B4-BE49-F238E27FC236}">
                <a16:creationId xmlns:a16="http://schemas.microsoft.com/office/drawing/2014/main" id="{3C9A7310-AF8A-2D7B-82BA-7BDE6159CCAC}"/>
              </a:ext>
            </a:extLst>
          </p:cNvPr>
          <p:cNvSpPr txBox="1">
            <a:spLocks noGrp="1" noChangeArrowheads="1"/>
          </p:cNvSpPr>
          <p:nvPr>
            <p:ph type="subTitle" idx="5"/>
          </p:nvPr>
        </p:nvSpPr>
        <p:spPr>
          <a:xfrm>
            <a:off x="1338263" y="1171575"/>
            <a:ext cx="3062287" cy="4746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Scope of Analysis</a:t>
            </a:r>
          </a:p>
        </p:txBody>
      </p:sp>
      <p:sp>
        <p:nvSpPr>
          <p:cNvPr id="33799" name="Google Shape;257;p40">
            <a:extLst>
              <a:ext uri="{FF2B5EF4-FFF2-40B4-BE49-F238E27FC236}">
                <a16:creationId xmlns:a16="http://schemas.microsoft.com/office/drawing/2014/main" id="{1A213A91-8359-44E4-BD20-B3DA9D79D8A3}"/>
              </a:ext>
            </a:extLst>
          </p:cNvPr>
          <p:cNvSpPr txBox="1">
            <a:spLocks noGrp="1" noChangeArrowheads="1"/>
          </p:cNvSpPr>
          <p:nvPr>
            <p:ph type="subTitle" idx="6"/>
          </p:nvPr>
        </p:nvSpPr>
        <p:spPr>
          <a:xfrm>
            <a:off x="5294313" y="1844675"/>
            <a:ext cx="3060700" cy="4746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Financial Modelling &amp; Budget planning</a:t>
            </a:r>
          </a:p>
        </p:txBody>
      </p:sp>
      <p:sp>
        <p:nvSpPr>
          <p:cNvPr id="33800" name="Google Shape;258;p40">
            <a:extLst>
              <a:ext uri="{FF2B5EF4-FFF2-40B4-BE49-F238E27FC236}">
                <a16:creationId xmlns:a16="http://schemas.microsoft.com/office/drawing/2014/main" id="{98FFAE8B-589B-BB71-BD40-27265ED7CB22}"/>
              </a:ext>
            </a:extLst>
          </p:cNvPr>
          <p:cNvSpPr txBox="1">
            <a:spLocks noGrp="1" noChangeArrowheads="1"/>
          </p:cNvSpPr>
          <p:nvPr>
            <p:ph type="subTitle" idx="7"/>
          </p:nvPr>
        </p:nvSpPr>
        <p:spPr>
          <a:xfrm>
            <a:off x="5294313" y="2517775"/>
            <a:ext cx="3060700" cy="47307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Risks</a:t>
            </a:r>
          </a:p>
        </p:txBody>
      </p:sp>
      <p:sp>
        <p:nvSpPr>
          <p:cNvPr id="33801" name="Google Shape;259;p40">
            <a:extLst>
              <a:ext uri="{FF2B5EF4-FFF2-40B4-BE49-F238E27FC236}">
                <a16:creationId xmlns:a16="http://schemas.microsoft.com/office/drawing/2014/main" id="{877D7D4E-6D7A-A3C9-797E-2896392CF8F1}"/>
              </a:ext>
            </a:extLst>
          </p:cNvPr>
          <p:cNvSpPr txBox="1">
            <a:spLocks noGrp="1" noChangeArrowheads="1"/>
          </p:cNvSpPr>
          <p:nvPr>
            <p:ph type="subTitle" idx="13"/>
          </p:nvPr>
        </p:nvSpPr>
        <p:spPr>
          <a:xfrm>
            <a:off x="5294313" y="1171575"/>
            <a:ext cx="3060700" cy="474663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Marketing Strategy</a:t>
            </a:r>
          </a:p>
        </p:txBody>
      </p:sp>
      <p:sp>
        <p:nvSpPr>
          <p:cNvPr id="33802" name="Google Shape;260;p40">
            <a:extLst>
              <a:ext uri="{FF2B5EF4-FFF2-40B4-BE49-F238E27FC236}">
                <a16:creationId xmlns:a16="http://schemas.microsoft.com/office/drawing/2014/main" id="{C0FE055B-D4F0-A53B-79E1-D7EEA6210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8" y="1171575"/>
            <a:ext cx="473075" cy="474663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3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1</a:t>
            </a:r>
          </a:p>
        </p:txBody>
      </p:sp>
      <p:sp>
        <p:nvSpPr>
          <p:cNvPr id="33803" name="Google Shape;261;p40">
            <a:extLst>
              <a:ext uri="{FF2B5EF4-FFF2-40B4-BE49-F238E27FC236}">
                <a16:creationId xmlns:a16="http://schemas.microsoft.com/office/drawing/2014/main" id="{6B4F6835-AF67-1F5A-24CD-64DEA0EA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8" y="1844675"/>
            <a:ext cx="473075" cy="474663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3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2</a:t>
            </a:r>
          </a:p>
        </p:txBody>
      </p:sp>
      <p:sp>
        <p:nvSpPr>
          <p:cNvPr id="33804" name="Google Shape;262;p40">
            <a:extLst>
              <a:ext uri="{FF2B5EF4-FFF2-40B4-BE49-F238E27FC236}">
                <a16:creationId xmlns:a16="http://schemas.microsoft.com/office/drawing/2014/main" id="{91BFE1FF-9F38-15B7-4EC3-91B3A5D71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8" y="2517775"/>
            <a:ext cx="473075" cy="473075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3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3</a:t>
            </a:r>
          </a:p>
        </p:txBody>
      </p:sp>
      <p:sp>
        <p:nvSpPr>
          <p:cNvPr id="33805" name="Google Shape;263;p40">
            <a:extLst>
              <a:ext uri="{FF2B5EF4-FFF2-40B4-BE49-F238E27FC236}">
                <a16:creationId xmlns:a16="http://schemas.microsoft.com/office/drawing/2014/main" id="{51BF9F37-2A33-67B9-71B2-05C196B63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8" y="3190875"/>
            <a:ext cx="473075" cy="473075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3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4</a:t>
            </a:r>
          </a:p>
        </p:txBody>
      </p:sp>
      <p:sp>
        <p:nvSpPr>
          <p:cNvPr id="33806" name="Google Shape;264;p40">
            <a:extLst>
              <a:ext uri="{FF2B5EF4-FFF2-40B4-BE49-F238E27FC236}">
                <a16:creationId xmlns:a16="http://schemas.microsoft.com/office/drawing/2014/main" id="{5AC40925-E6C2-7DA9-3244-0404CA167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171575"/>
            <a:ext cx="474663" cy="474663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5</a:t>
            </a:r>
          </a:p>
        </p:txBody>
      </p:sp>
      <p:sp>
        <p:nvSpPr>
          <p:cNvPr id="33807" name="Google Shape;265;p40">
            <a:extLst>
              <a:ext uri="{FF2B5EF4-FFF2-40B4-BE49-F238E27FC236}">
                <a16:creationId xmlns:a16="http://schemas.microsoft.com/office/drawing/2014/main" id="{2E1BDAB8-D7AA-459A-1C12-8C4A7ABE4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1844675"/>
            <a:ext cx="474663" cy="474663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6</a:t>
            </a:r>
          </a:p>
        </p:txBody>
      </p:sp>
      <p:sp>
        <p:nvSpPr>
          <p:cNvPr id="33808" name="Google Shape;266;p40">
            <a:extLst>
              <a:ext uri="{FF2B5EF4-FFF2-40B4-BE49-F238E27FC236}">
                <a16:creationId xmlns:a16="http://schemas.microsoft.com/office/drawing/2014/main" id="{11039ADA-C80F-9BB3-BAED-CBE6D654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2517775"/>
            <a:ext cx="474663" cy="473075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7</a:t>
            </a:r>
          </a:p>
        </p:txBody>
      </p:sp>
      <p:cxnSp>
        <p:nvCxnSpPr>
          <p:cNvPr id="33809" name="Google Shape;267;p40">
            <a:extLst>
              <a:ext uri="{FF2B5EF4-FFF2-40B4-BE49-F238E27FC236}">
                <a16:creationId xmlns:a16="http://schemas.microsoft.com/office/drawing/2014/main" id="{72B6D5AF-DD9F-6C6D-66E5-F9C92447AC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14663" y="769938"/>
            <a:ext cx="5416550" cy="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Google Shape;258;p40">
            <a:extLst>
              <a:ext uri="{FF2B5EF4-FFF2-40B4-BE49-F238E27FC236}">
                <a16:creationId xmlns:a16="http://schemas.microsoft.com/office/drawing/2014/main" id="{454C2131-B1E1-14CB-4880-881580D92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2" y="3189287"/>
            <a:ext cx="30607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91425" rIns="91425" bIns="91425" numCol="1" anchor="ctr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kern="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Questions?</a:t>
            </a:r>
          </a:p>
        </p:txBody>
      </p:sp>
      <p:sp>
        <p:nvSpPr>
          <p:cNvPr id="3" name="Google Shape;266;p40">
            <a:extLst>
              <a:ext uri="{FF2B5EF4-FFF2-40B4-BE49-F238E27FC236}">
                <a16:creationId xmlns:a16="http://schemas.microsoft.com/office/drawing/2014/main" id="{C0C2FEC3-DCBE-0B87-58BE-BA43171C4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49" y="3189287"/>
            <a:ext cx="474663" cy="473075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dirty="0">
                <a:solidFill>
                  <a:srgbClr val="003B71"/>
                </a:solidFill>
                <a:latin typeface="Raleway" pitchFamily="2" charset="0"/>
                <a:sym typeface="Raleway" pitchFamily="2" charset="0"/>
              </a:rP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768;p71">
            <a:extLst>
              <a:ext uri="{FF2B5EF4-FFF2-40B4-BE49-F238E27FC236}">
                <a16:creationId xmlns:a16="http://schemas.microsoft.com/office/drawing/2014/main" id="{C01FACAE-0867-1F81-86D1-52B990B0422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283980" y="1797050"/>
            <a:ext cx="4927311" cy="1344324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cs typeface="Arial"/>
                <a:sym typeface="Lora" pitchFamily="2" charset="0"/>
              </a:rPr>
              <a:t>SCOPE &amp; METHODOLOGY</a:t>
            </a:r>
            <a:endParaRPr lang="en-US" altLang="en-US" dirty="0">
              <a:solidFill>
                <a:srgbClr val="003B71"/>
              </a:solidFill>
              <a:latin typeface="Lora" pitchFamily="2" charset="0"/>
              <a:cs typeface="Arial" panose="020B0604020202020204" pitchFamily="34" charset="0"/>
            </a:endParaRPr>
          </a:p>
        </p:txBody>
      </p:sp>
      <p:sp>
        <p:nvSpPr>
          <p:cNvPr id="97283" name="Google Shape;769;p71">
            <a:extLst>
              <a:ext uri="{FF2B5EF4-FFF2-40B4-BE49-F238E27FC236}">
                <a16:creationId xmlns:a16="http://schemas.microsoft.com/office/drawing/2014/main" id="{3789675F-CCE0-E871-404B-689FEE7BA7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0275" y="1874116"/>
            <a:ext cx="1189038" cy="1189038"/>
          </a:xfrm>
          <a:ln>
            <a:noFill/>
          </a:ln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dirty="0">
                <a:solidFill>
                  <a:srgbClr val="003B71"/>
                </a:solidFill>
                <a:latin typeface="DM Sans" pitchFamily="2" charset="0"/>
                <a:cs typeface="Arial" panose="020B0604020202020204" pitchFamily="34" charset="0"/>
                <a:sym typeface="DM Sans" pitchFamily="2" charset="0"/>
              </a:rPr>
              <a:t>01</a:t>
            </a:r>
          </a:p>
        </p:txBody>
      </p:sp>
      <p:cxnSp>
        <p:nvCxnSpPr>
          <p:cNvPr id="97285" name="Google Shape;771;p71">
            <a:extLst>
              <a:ext uri="{FF2B5EF4-FFF2-40B4-BE49-F238E27FC236}">
                <a16:creationId xmlns:a16="http://schemas.microsoft.com/office/drawing/2014/main" id="{57DF5652-1EB7-DAA8-0BC7-7808E79CA8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86" name="Google Shape;772;p71">
            <a:extLst>
              <a:ext uri="{FF2B5EF4-FFF2-40B4-BE49-F238E27FC236}">
                <a16:creationId xmlns:a16="http://schemas.microsoft.com/office/drawing/2014/main" id="{4B594F3E-3B73-6D4A-2E25-DB26F165C6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24890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Google Shape;1065;p89">
            <a:extLst>
              <a:ext uri="{FF2B5EF4-FFF2-40B4-BE49-F238E27FC236}">
                <a16:creationId xmlns:a16="http://schemas.microsoft.com/office/drawing/2014/main" id="{D2A8873C-4D40-94F2-C6EE-A0536F03B2F3}"/>
              </a:ext>
            </a:extLst>
          </p:cNvPr>
          <p:cNvSpPr txBox="1">
            <a:spLocks noGrp="1" noChangeArrowheads="1"/>
          </p:cNvSpPr>
          <p:nvPr>
            <p:ph type="title" idx="8"/>
          </p:nvPr>
        </p:nvSpPr>
        <p:spPr>
          <a:xfrm>
            <a:off x="720725" y="444500"/>
            <a:ext cx="5189538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SCOPE OF ANALYSIS</a:t>
            </a:r>
            <a:endParaRPr lang="en-US" altLang="en-US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34147" name="Google Shape;1066;p89">
            <a:extLst>
              <a:ext uri="{FF2B5EF4-FFF2-40B4-BE49-F238E27FC236}">
                <a16:creationId xmlns:a16="http://schemas.microsoft.com/office/drawing/2014/main" id="{5F3D1CF7-6796-3BC2-3641-9A87AB069EB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15529" y="1697904"/>
            <a:ext cx="2256993" cy="1095086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Market</a:t>
            </a:r>
            <a:br>
              <a:rPr lang="en-US" alt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</a:br>
            <a:r>
              <a:rPr lang="en-US" alt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 Dynamics</a:t>
            </a:r>
            <a:endParaRPr lang="en-US" sz="2000" dirty="0">
              <a:latin typeface="Bookman Old Style"/>
            </a:endParaRPr>
          </a:p>
        </p:txBody>
      </p:sp>
      <p:sp>
        <p:nvSpPr>
          <p:cNvPr id="134148" name="Google Shape;1067;p89">
            <a:extLst>
              <a:ext uri="{FF2B5EF4-FFF2-40B4-BE49-F238E27FC236}">
                <a16:creationId xmlns:a16="http://schemas.microsoft.com/office/drawing/2014/main" id="{177A2918-102F-2796-CBED-6B50C78B9573}"/>
              </a:ext>
            </a:extLst>
          </p:cNvPr>
          <p:cNvSpPr txBox="1">
            <a:spLocks noGrp="1" noChangeArrowheads="1"/>
          </p:cNvSpPr>
          <p:nvPr>
            <p:ph type="title" idx="2"/>
          </p:nvPr>
        </p:nvSpPr>
        <p:spPr>
          <a:xfrm>
            <a:off x="3408942" y="1687513"/>
            <a:ext cx="2294946" cy="1110672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Competitive Landscape</a:t>
            </a:r>
            <a:endParaRPr lang="en-US" sz="2000" dirty="0">
              <a:latin typeface="Bookman Old Style"/>
            </a:endParaRPr>
          </a:p>
        </p:txBody>
      </p:sp>
      <p:sp>
        <p:nvSpPr>
          <p:cNvPr id="134150" name="Google Shape;1069;p89">
            <a:extLst>
              <a:ext uri="{FF2B5EF4-FFF2-40B4-BE49-F238E27FC236}">
                <a16:creationId xmlns:a16="http://schemas.microsoft.com/office/drawing/2014/main" id="{8B036DCD-83CB-5757-E8AA-69E61CEA2CFE}"/>
              </a:ext>
            </a:extLst>
          </p:cNvPr>
          <p:cNvSpPr txBox="1">
            <a:spLocks noGrp="1" noChangeArrowheads="1"/>
          </p:cNvSpPr>
          <p:nvPr>
            <p:ph type="title" idx="9"/>
          </p:nvPr>
        </p:nvSpPr>
        <p:spPr>
          <a:xfrm>
            <a:off x="6202651" y="1936894"/>
            <a:ext cx="2237799" cy="87687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Regional Prioritization</a:t>
            </a:r>
            <a:endParaRPr lang="en-US" sz="2000" dirty="0">
              <a:latin typeface="Bookman Old Style"/>
            </a:endParaRPr>
          </a:p>
        </p:txBody>
      </p:sp>
      <p:sp>
        <p:nvSpPr>
          <p:cNvPr id="134152" name="Google Shape;1071;p89">
            <a:extLst>
              <a:ext uri="{FF2B5EF4-FFF2-40B4-BE49-F238E27FC236}">
                <a16:creationId xmlns:a16="http://schemas.microsoft.com/office/drawing/2014/main" id="{B94034CE-5812-54F5-97D9-A6BF255ADFCB}"/>
              </a:ext>
            </a:extLst>
          </p:cNvPr>
          <p:cNvSpPr txBox="1">
            <a:spLocks noGrp="1" noChangeArrowheads="1"/>
          </p:cNvSpPr>
          <p:nvPr>
            <p:ph type="title" idx="4"/>
          </p:nvPr>
        </p:nvSpPr>
        <p:spPr>
          <a:xfrm>
            <a:off x="2016991" y="3625562"/>
            <a:ext cx="2225820" cy="954809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Customer Insights</a:t>
            </a:r>
            <a:endParaRPr lang="en-US" sz="2000" dirty="0">
              <a:latin typeface="Bookman Old Style"/>
            </a:endParaRPr>
          </a:p>
        </p:txBody>
      </p:sp>
      <p:sp>
        <p:nvSpPr>
          <p:cNvPr id="134153" name="Google Shape;1072;p89">
            <a:extLst>
              <a:ext uri="{FF2B5EF4-FFF2-40B4-BE49-F238E27FC236}">
                <a16:creationId xmlns:a16="http://schemas.microsoft.com/office/drawing/2014/main" id="{C827253C-D85B-5CA6-1436-136B6438C8D4}"/>
              </a:ext>
            </a:extLst>
          </p:cNvPr>
          <p:cNvSpPr txBox="1">
            <a:spLocks noGrp="1" noChangeArrowheads="1"/>
          </p:cNvSpPr>
          <p:nvPr>
            <p:ph type="title" idx="5"/>
          </p:nvPr>
        </p:nvSpPr>
        <p:spPr>
          <a:xfrm>
            <a:off x="4350184" y="3448916"/>
            <a:ext cx="3141806" cy="1147039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3B71"/>
                </a:solidFill>
                <a:latin typeface="Bookman Old Style"/>
              </a:rPr>
              <a:t>Risk and Opportunity Analysis</a:t>
            </a:r>
            <a:endParaRPr lang="en-US" sz="2000" dirty="0">
              <a:latin typeface="Bookman Old Style"/>
            </a:endParaRPr>
          </a:p>
        </p:txBody>
      </p:sp>
      <p:sp>
        <p:nvSpPr>
          <p:cNvPr id="134159" name="Google Shape;1078;p89">
            <a:extLst>
              <a:ext uri="{FF2B5EF4-FFF2-40B4-BE49-F238E27FC236}">
                <a16:creationId xmlns:a16="http://schemas.microsoft.com/office/drawing/2014/main" id="{FE0489DE-4DBF-5539-EE1A-4370AFF3D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1181677"/>
            <a:ext cx="750887" cy="749300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34160" name="Google Shape;1079;p89">
            <a:extLst>
              <a:ext uri="{FF2B5EF4-FFF2-40B4-BE49-F238E27FC236}">
                <a16:creationId xmlns:a16="http://schemas.microsoft.com/office/drawing/2014/main" id="{CFEF6EDE-4A53-013B-6903-453B28BA0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005427"/>
            <a:ext cx="749300" cy="749300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34161" name="Google Shape;1080;p89">
            <a:extLst>
              <a:ext uri="{FF2B5EF4-FFF2-40B4-BE49-F238E27FC236}">
                <a16:creationId xmlns:a16="http://schemas.microsoft.com/office/drawing/2014/main" id="{3CDF0D00-886F-CB67-70A9-CCF76F545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1181677"/>
            <a:ext cx="750888" cy="749300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34162" name="Google Shape;1081;p89">
            <a:extLst>
              <a:ext uri="{FF2B5EF4-FFF2-40B4-BE49-F238E27FC236}">
                <a16:creationId xmlns:a16="http://schemas.microsoft.com/office/drawing/2014/main" id="{CB807036-8A2C-A470-EFB4-6C9CB354E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3005427"/>
            <a:ext cx="750887" cy="749300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34163" name="Google Shape;1082;p89">
            <a:extLst>
              <a:ext uri="{FF2B5EF4-FFF2-40B4-BE49-F238E27FC236}">
                <a16:creationId xmlns:a16="http://schemas.microsoft.com/office/drawing/2014/main" id="{9EDAAFAF-912B-0BB5-406E-E84B4B220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0" y="1181677"/>
            <a:ext cx="750888" cy="749300"/>
          </a:xfrm>
          <a:prstGeom prst="rect">
            <a:avLst/>
          </a:prstGeom>
          <a:noFill/>
          <a:ln w="9525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cxnSp>
        <p:nvCxnSpPr>
          <p:cNvPr id="134165" name="Google Shape;1084;p89">
            <a:extLst>
              <a:ext uri="{FF2B5EF4-FFF2-40B4-BE49-F238E27FC236}">
                <a16:creationId xmlns:a16="http://schemas.microsoft.com/office/drawing/2014/main" id="{93027EC7-6AEC-A89C-41E6-7F265ADB16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34000" y="769938"/>
            <a:ext cx="3097213" cy="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166" name="Google Shape;1085;p89">
            <a:extLst>
              <a:ext uri="{FF2B5EF4-FFF2-40B4-BE49-F238E27FC236}">
                <a16:creationId xmlns:a16="http://schemas.microsoft.com/office/drawing/2014/main" id="{4C7E8E3F-3D07-E316-7F91-0A19A7BD46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4608513"/>
            <a:ext cx="7724775" cy="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9" name="Picture 28" descr="A graph with a magnifying glass and a check mark&#10;&#10;Description automatically generated">
            <a:extLst>
              <a:ext uri="{FF2B5EF4-FFF2-40B4-BE49-F238E27FC236}">
                <a16:creationId xmlns:a16="http://schemas.microsoft.com/office/drawing/2014/main" id="{7F9409A1-23AC-54FC-383D-2BF8D5DD1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828" y="1197119"/>
            <a:ext cx="723900" cy="733425"/>
          </a:xfrm>
          <a:prstGeom prst="rect">
            <a:avLst/>
          </a:prstGeom>
        </p:spPr>
      </p:pic>
      <p:pic>
        <p:nvPicPr>
          <p:cNvPr id="30" name="Picture 29" descr="A black line drawing of people and a magnifying glass&#10;&#10;Description automatically generated">
            <a:extLst>
              <a:ext uri="{FF2B5EF4-FFF2-40B4-BE49-F238E27FC236}">
                <a16:creationId xmlns:a16="http://schemas.microsoft.com/office/drawing/2014/main" id="{A34C9DA6-4EC3-89E7-67E0-CFDCFD61A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361" y="1209674"/>
            <a:ext cx="736889" cy="656360"/>
          </a:xfrm>
          <a:prstGeom prst="rect">
            <a:avLst/>
          </a:prstGeom>
        </p:spPr>
      </p:pic>
      <p:pic>
        <p:nvPicPr>
          <p:cNvPr id="31" name="Picture 30" descr="A group of people with a cube above them&#10;&#10;Description automatically generated">
            <a:extLst>
              <a:ext uri="{FF2B5EF4-FFF2-40B4-BE49-F238E27FC236}">
                <a16:creationId xmlns:a16="http://schemas.microsoft.com/office/drawing/2014/main" id="{442C49DF-0628-6E48-868B-6C9E3254F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3297" y="3075708"/>
            <a:ext cx="619125" cy="607869"/>
          </a:xfrm>
          <a:prstGeom prst="rect">
            <a:avLst/>
          </a:prstGeom>
        </p:spPr>
      </p:pic>
      <p:pic>
        <p:nvPicPr>
          <p:cNvPr id="32" name="Picture 31" descr="A light bulb with arrows pointing to the side&#10;&#10;Description automatically generated">
            <a:extLst>
              <a:ext uri="{FF2B5EF4-FFF2-40B4-BE49-F238E27FC236}">
                <a16:creationId xmlns:a16="http://schemas.microsoft.com/office/drawing/2014/main" id="{EE8FDC7E-B44F-8806-87D0-0084CEA4D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165" y="3061422"/>
            <a:ext cx="697924" cy="631248"/>
          </a:xfrm>
          <a:prstGeom prst="rect">
            <a:avLst/>
          </a:prstGeom>
        </p:spPr>
      </p:pic>
      <p:grpSp>
        <p:nvGrpSpPr>
          <p:cNvPr id="40" name="Google Shape;1395;p105">
            <a:extLst>
              <a:ext uri="{FF2B5EF4-FFF2-40B4-BE49-F238E27FC236}">
                <a16:creationId xmlns:a16="http://schemas.microsoft.com/office/drawing/2014/main" id="{FB634332-5DDF-AF04-EE06-1809793F043F}"/>
              </a:ext>
            </a:extLst>
          </p:cNvPr>
          <p:cNvGrpSpPr>
            <a:grpSpLocks/>
          </p:cNvGrpSpPr>
          <p:nvPr/>
        </p:nvGrpSpPr>
        <p:grpSpPr bwMode="auto">
          <a:xfrm>
            <a:off x="6983412" y="1229881"/>
            <a:ext cx="633123" cy="654625"/>
            <a:chOff x="1865381" y="4277506"/>
            <a:chExt cx="396131" cy="355612"/>
          </a:xfrm>
        </p:grpSpPr>
        <p:sp>
          <p:nvSpPr>
            <p:cNvPr id="34" name="Google Shape;1396;p105">
              <a:extLst>
                <a:ext uri="{FF2B5EF4-FFF2-40B4-BE49-F238E27FC236}">
                  <a16:creationId xmlns:a16="http://schemas.microsoft.com/office/drawing/2014/main" id="{2D47C3F0-D47C-EF95-2E0A-394763EDF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5381" y="4277506"/>
              <a:ext cx="396131" cy="355612"/>
            </a:xfrm>
            <a:custGeom>
              <a:avLst/>
              <a:gdLst>
                <a:gd name="T0" fmla="*/ 6240 w 12455"/>
                <a:gd name="T1" fmla="*/ 2644 h 11181"/>
                <a:gd name="T2" fmla="*/ 8621 w 12455"/>
                <a:gd name="T3" fmla="*/ 3703 h 11181"/>
                <a:gd name="T4" fmla="*/ 7609 w 12455"/>
                <a:gd name="T5" fmla="*/ 7990 h 11181"/>
                <a:gd name="T6" fmla="*/ 6526 w 12455"/>
                <a:gd name="T7" fmla="*/ 4418 h 11181"/>
                <a:gd name="T8" fmla="*/ 10598 w 12455"/>
                <a:gd name="T9" fmla="*/ 8168 h 11181"/>
                <a:gd name="T10" fmla="*/ 6240 w 12455"/>
                <a:gd name="T11" fmla="*/ 4656 h 11181"/>
                <a:gd name="T12" fmla="*/ 7204 w 12455"/>
                <a:gd name="T13" fmla="*/ 8144 h 11181"/>
                <a:gd name="T14" fmla="*/ 5133 w 12455"/>
                <a:gd name="T15" fmla="*/ 7192 h 11181"/>
                <a:gd name="T16" fmla="*/ 5430 w 12455"/>
                <a:gd name="T17" fmla="*/ 8561 h 11181"/>
                <a:gd name="T18" fmla="*/ 7061 w 12455"/>
                <a:gd name="T19" fmla="*/ 8561 h 11181"/>
                <a:gd name="T20" fmla="*/ 2470 w 12455"/>
                <a:gd name="T21" fmla="*/ 7643 h 11181"/>
                <a:gd name="T22" fmla="*/ 3144 w 12455"/>
                <a:gd name="T23" fmla="*/ 9002 h 11181"/>
                <a:gd name="T24" fmla="*/ 1799 w 12455"/>
                <a:gd name="T25" fmla="*/ 9002 h 11181"/>
                <a:gd name="T26" fmla="*/ 2470 w 12455"/>
                <a:gd name="T27" fmla="*/ 7643 h 11181"/>
                <a:gd name="T28" fmla="*/ 10109 w 12455"/>
                <a:gd name="T29" fmla="*/ 10145 h 11181"/>
                <a:gd name="T30" fmla="*/ 10300 w 12455"/>
                <a:gd name="T31" fmla="*/ 8525 h 11181"/>
                <a:gd name="T32" fmla="*/ 10848 w 12455"/>
                <a:gd name="T33" fmla="*/ 10145 h 11181"/>
                <a:gd name="T34" fmla="*/ 10788 w 12455"/>
                <a:gd name="T35" fmla="*/ 8525 h 11181"/>
                <a:gd name="T36" fmla="*/ 2073 w 12455"/>
                <a:gd name="T37" fmla="*/ 10323 h 11181"/>
                <a:gd name="T38" fmla="*/ 2489 w 12455"/>
                <a:gd name="T39" fmla="*/ 4013 h 11181"/>
                <a:gd name="T40" fmla="*/ 4990 w 12455"/>
                <a:gd name="T41" fmla="*/ 8454 h 11181"/>
                <a:gd name="T42" fmla="*/ 3216 w 12455"/>
                <a:gd name="T43" fmla="*/ 10597 h 11181"/>
                <a:gd name="T44" fmla="*/ 3430 w 12455"/>
                <a:gd name="T45" fmla="*/ 9240 h 11181"/>
                <a:gd name="T46" fmla="*/ 2462 w 12455"/>
                <a:gd name="T47" fmla="*/ 7298 h 11181"/>
                <a:gd name="T48" fmla="*/ 1525 w 12455"/>
                <a:gd name="T49" fmla="*/ 9252 h 11181"/>
                <a:gd name="T50" fmla="*/ 382 w 12455"/>
                <a:gd name="T51" fmla="*/ 7204 h 11181"/>
                <a:gd name="T52" fmla="*/ 2847 w 12455"/>
                <a:gd name="T53" fmla="*/ 10788 h 11181"/>
                <a:gd name="T54" fmla="*/ 2847 w 12455"/>
                <a:gd name="T55" fmla="*/ 10680 h 11181"/>
                <a:gd name="T56" fmla="*/ 10788 w 12455"/>
                <a:gd name="T57" fmla="*/ 10788 h 11181"/>
                <a:gd name="T58" fmla="*/ 10109 w 12455"/>
                <a:gd name="T59" fmla="*/ 10526 h 11181"/>
                <a:gd name="T60" fmla="*/ 4716 w 12455"/>
                <a:gd name="T61" fmla="*/ 1310 h 11181"/>
                <a:gd name="T62" fmla="*/ 1 w 12455"/>
                <a:gd name="T63" fmla="*/ 7216 h 11181"/>
                <a:gd name="T64" fmla="*/ 2025 w 12455"/>
                <a:gd name="T65" fmla="*/ 11180 h 11181"/>
                <a:gd name="T66" fmla="*/ 3823 w 12455"/>
                <a:gd name="T67" fmla="*/ 11038 h 11181"/>
                <a:gd name="T68" fmla="*/ 8169 w 12455"/>
                <a:gd name="T69" fmla="*/ 11014 h 11181"/>
                <a:gd name="T70" fmla="*/ 6490 w 12455"/>
                <a:gd name="T71" fmla="*/ 9954 h 11181"/>
                <a:gd name="T72" fmla="*/ 9955 w 12455"/>
                <a:gd name="T73" fmla="*/ 4001 h 11181"/>
                <a:gd name="T74" fmla="*/ 11181 w 12455"/>
                <a:gd name="T75" fmla="*/ 9490 h 11181"/>
                <a:gd name="T76" fmla="*/ 10717 w 12455"/>
                <a:gd name="T77" fmla="*/ 7644 h 11181"/>
                <a:gd name="T78" fmla="*/ 9895 w 12455"/>
                <a:gd name="T79" fmla="*/ 8263 h 11181"/>
                <a:gd name="T80" fmla="*/ 8943 w 12455"/>
                <a:gd name="T81" fmla="*/ 10645 h 11181"/>
                <a:gd name="T82" fmla="*/ 8978 w 12455"/>
                <a:gd name="T83" fmla="*/ 11002 h 11181"/>
                <a:gd name="T84" fmla="*/ 10764 w 12455"/>
                <a:gd name="T85" fmla="*/ 11157 h 11181"/>
                <a:gd name="T86" fmla="*/ 12455 w 12455"/>
                <a:gd name="T87" fmla="*/ 7192 h 11181"/>
                <a:gd name="T88" fmla="*/ 9137 w 12455"/>
                <a:gd name="T89" fmla="*/ 2403 h 11181"/>
                <a:gd name="T90" fmla="*/ 9443 w 12455"/>
                <a:gd name="T91" fmla="*/ 3441 h 11181"/>
                <a:gd name="T92" fmla="*/ 5192 w 12455"/>
                <a:gd name="T93" fmla="*/ 3584 h 11181"/>
                <a:gd name="T94" fmla="*/ 5061 w 12455"/>
                <a:gd name="T95" fmla="*/ 3930 h 11181"/>
                <a:gd name="T96" fmla="*/ 4871 w 12455"/>
                <a:gd name="T97" fmla="*/ 7990 h 11181"/>
                <a:gd name="T98" fmla="*/ 3859 w 12455"/>
                <a:gd name="T99" fmla="*/ 3715 h 11181"/>
                <a:gd name="T100" fmla="*/ 4537 w 12455"/>
                <a:gd name="T101" fmla="*/ 3596 h 11181"/>
                <a:gd name="T102" fmla="*/ 3049 w 12455"/>
                <a:gd name="T103" fmla="*/ 3453 h 11181"/>
                <a:gd name="T104" fmla="*/ 6240 w 12455"/>
                <a:gd name="T105" fmla="*/ 3025 h 11181"/>
                <a:gd name="T106" fmla="*/ 8573 w 12455"/>
                <a:gd name="T107" fmla="*/ 2203 h 11181"/>
                <a:gd name="T108" fmla="*/ 7728 w 12455"/>
                <a:gd name="T109" fmla="*/ 1310 h 1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455" h="11181" extrusionOk="0">
                  <a:moveTo>
                    <a:pt x="6240" y="322"/>
                  </a:moveTo>
                  <a:cubicBezTo>
                    <a:pt x="6883" y="322"/>
                    <a:pt x="7395" y="846"/>
                    <a:pt x="7395" y="1489"/>
                  </a:cubicBezTo>
                  <a:cubicBezTo>
                    <a:pt x="7395" y="2132"/>
                    <a:pt x="6883" y="2644"/>
                    <a:pt x="6240" y="2644"/>
                  </a:cubicBezTo>
                  <a:cubicBezTo>
                    <a:pt x="5597" y="2644"/>
                    <a:pt x="5073" y="2132"/>
                    <a:pt x="5073" y="1489"/>
                  </a:cubicBezTo>
                  <a:cubicBezTo>
                    <a:pt x="5073" y="834"/>
                    <a:pt x="5597" y="322"/>
                    <a:pt x="6240" y="322"/>
                  </a:cubicBezTo>
                  <a:close/>
                  <a:moveTo>
                    <a:pt x="8621" y="3703"/>
                  </a:moveTo>
                  <a:cubicBezTo>
                    <a:pt x="8943" y="3703"/>
                    <a:pt x="9276" y="3751"/>
                    <a:pt x="9585" y="3834"/>
                  </a:cubicBezTo>
                  <a:cubicBezTo>
                    <a:pt x="9657" y="4156"/>
                    <a:pt x="9705" y="4477"/>
                    <a:pt x="9705" y="4811"/>
                  </a:cubicBezTo>
                  <a:cubicBezTo>
                    <a:pt x="9705" y="6239"/>
                    <a:pt x="8847" y="7466"/>
                    <a:pt x="7609" y="7990"/>
                  </a:cubicBezTo>
                  <a:cubicBezTo>
                    <a:pt x="7669" y="7728"/>
                    <a:pt x="7692" y="7454"/>
                    <a:pt x="7692" y="7192"/>
                  </a:cubicBezTo>
                  <a:cubicBezTo>
                    <a:pt x="7692" y="6382"/>
                    <a:pt x="7454" y="5620"/>
                    <a:pt x="7002" y="4965"/>
                  </a:cubicBezTo>
                  <a:cubicBezTo>
                    <a:pt x="6859" y="4775"/>
                    <a:pt x="6704" y="4584"/>
                    <a:pt x="6526" y="4418"/>
                  </a:cubicBezTo>
                  <a:cubicBezTo>
                    <a:pt x="7097" y="3977"/>
                    <a:pt x="7835" y="3703"/>
                    <a:pt x="8621" y="3703"/>
                  </a:cubicBezTo>
                  <a:close/>
                  <a:moveTo>
                    <a:pt x="10478" y="7918"/>
                  </a:moveTo>
                  <a:lnTo>
                    <a:pt x="10598" y="8168"/>
                  </a:lnTo>
                  <a:lnTo>
                    <a:pt x="10359" y="8168"/>
                  </a:lnTo>
                  <a:lnTo>
                    <a:pt x="10478" y="7918"/>
                  </a:lnTo>
                  <a:close/>
                  <a:moveTo>
                    <a:pt x="6240" y="4656"/>
                  </a:moveTo>
                  <a:cubicBezTo>
                    <a:pt x="6407" y="4823"/>
                    <a:pt x="6561" y="4989"/>
                    <a:pt x="6704" y="5180"/>
                  </a:cubicBezTo>
                  <a:cubicBezTo>
                    <a:pt x="7121" y="5775"/>
                    <a:pt x="7335" y="6454"/>
                    <a:pt x="7335" y="7192"/>
                  </a:cubicBezTo>
                  <a:cubicBezTo>
                    <a:pt x="7335" y="7513"/>
                    <a:pt x="7299" y="7847"/>
                    <a:pt x="7204" y="8144"/>
                  </a:cubicBezTo>
                  <a:cubicBezTo>
                    <a:pt x="6907" y="8228"/>
                    <a:pt x="6585" y="8275"/>
                    <a:pt x="6252" y="8275"/>
                  </a:cubicBezTo>
                  <a:cubicBezTo>
                    <a:pt x="5930" y="8275"/>
                    <a:pt x="5597" y="8228"/>
                    <a:pt x="5299" y="8144"/>
                  </a:cubicBezTo>
                  <a:cubicBezTo>
                    <a:pt x="5180" y="7847"/>
                    <a:pt x="5133" y="7513"/>
                    <a:pt x="5133" y="7192"/>
                  </a:cubicBezTo>
                  <a:cubicBezTo>
                    <a:pt x="5133" y="6192"/>
                    <a:pt x="5549" y="5299"/>
                    <a:pt x="6240" y="4656"/>
                  </a:cubicBezTo>
                  <a:close/>
                  <a:moveTo>
                    <a:pt x="5430" y="8561"/>
                  </a:moveTo>
                  <a:lnTo>
                    <a:pt x="5430" y="8561"/>
                  </a:lnTo>
                  <a:cubicBezTo>
                    <a:pt x="5704" y="8621"/>
                    <a:pt x="5966" y="8644"/>
                    <a:pt x="6252" y="8644"/>
                  </a:cubicBezTo>
                  <a:cubicBezTo>
                    <a:pt x="6537" y="8644"/>
                    <a:pt x="6799" y="8621"/>
                    <a:pt x="7061" y="8561"/>
                  </a:cubicBezTo>
                  <a:cubicBezTo>
                    <a:pt x="6847" y="8990"/>
                    <a:pt x="6585" y="9395"/>
                    <a:pt x="6240" y="9716"/>
                  </a:cubicBezTo>
                  <a:cubicBezTo>
                    <a:pt x="5895" y="9395"/>
                    <a:pt x="5609" y="9002"/>
                    <a:pt x="5430" y="8561"/>
                  </a:cubicBezTo>
                  <a:close/>
                  <a:moveTo>
                    <a:pt x="2470" y="7643"/>
                  </a:moveTo>
                  <a:cubicBezTo>
                    <a:pt x="2693" y="7643"/>
                    <a:pt x="2903" y="7736"/>
                    <a:pt x="3049" y="7882"/>
                  </a:cubicBezTo>
                  <a:cubicBezTo>
                    <a:pt x="3216" y="8049"/>
                    <a:pt x="3323" y="8263"/>
                    <a:pt x="3323" y="8502"/>
                  </a:cubicBezTo>
                  <a:cubicBezTo>
                    <a:pt x="3323" y="8692"/>
                    <a:pt x="3263" y="8859"/>
                    <a:pt x="3144" y="9002"/>
                  </a:cubicBezTo>
                  <a:cubicBezTo>
                    <a:pt x="2954" y="9275"/>
                    <a:pt x="2799" y="9549"/>
                    <a:pt x="2739" y="9847"/>
                  </a:cubicBezTo>
                  <a:lnTo>
                    <a:pt x="2192" y="9847"/>
                  </a:lnTo>
                  <a:cubicBezTo>
                    <a:pt x="2132" y="9537"/>
                    <a:pt x="2001" y="9252"/>
                    <a:pt x="1799" y="9002"/>
                  </a:cubicBezTo>
                  <a:cubicBezTo>
                    <a:pt x="1680" y="8835"/>
                    <a:pt x="1620" y="8656"/>
                    <a:pt x="1620" y="8454"/>
                  </a:cubicBezTo>
                  <a:cubicBezTo>
                    <a:pt x="1644" y="8025"/>
                    <a:pt x="2001" y="7668"/>
                    <a:pt x="2430" y="7644"/>
                  </a:cubicBezTo>
                  <a:cubicBezTo>
                    <a:pt x="2443" y="7644"/>
                    <a:pt x="2457" y="7643"/>
                    <a:pt x="2470" y="7643"/>
                  </a:cubicBezTo>
                  <a:close/>
                  <a:moveTo>
                    <a:pt x="10300" y="8525"/>
                  </a:moveTo>
                  <a:lnTo>
                    <a:pt x="10300" y="10145"/>
                  </a:lnTo>
                  <a:lnTo>
                    <a:pt x="10109" y="10145"/>
                  </a:lnTo>
                  <a:lnTo>
                    <a:pt x="10109" y="8585"/>
                  </a:lnTo>
                  <a:cubicBezTo>
                    <a:pt x="10109" y="8561"/>
                    <a:pt x="10133" y="8525"/>
                    <a:pt x="10169" y="8525"/>
                  </a:cubicBezTo>
                  <a:lnTo>
                    <a:pt x="10300" y="8525"/>
                  </a:lnTo>
                  <a:close/>
                  <a:moveTo>
                    <a:pt x="10788" y="8525"/>
                  </a:moveTo>
                  <a:cubicBezTo>
                    <a:pt x="10824" y="8525"/>
                    <a:pt x="10848" y="8561"/>
                    <a:pt x="10848" y="8585"/>
                  </a:cubicBezTo>
                  <a:lnTo>
                    <a:pt x="10848" y="10145"/>
                  </a:lnTo>
                  <a:lnTo>
                    <a:pt x="10657" y="10145"/>
                  </a:lnTo>
                  <a:lnTo>
                    <a:pt x="10657" y="8525"/>
                  </a:lnTo>
                  <a:lnTo>
                    <a:pt x="10788" y="8525"/>
                  </a:lnTo>
                  <a:close/>
                  <a:moveTo>
                    <a:pt x="2847" y="10252"/>
                  </a:moveTo>
                  <a:lnTo>
                    <a:pt x="2847" y="10323"/>
                  </a:lnTo>
                  <a:lnTo>
                    <a:pt x="2073" y="10323"/>
                  </a:lnTo>
                  <a:lnTo>
                    <a:pt x="2073" y="10252"/>
                  </a:lnTo>
                  <a:lnTo>
                    <a:pt x="2847" y="10252"/>
                  </a:lnTo>
                  <a:close/>
                  <a:moveTo>
                    <a:pt x="2489" y="4013"/>
                  </a:moveTo>
                  <a:lnTo>
                    <a:pt x="2489" y="4013"/>
                  </a:lnTo>
                  <a:cubicBezTo>
                    <a:pt x="2430" y="4287"/>
                    <a:pt x="2394" y="4549"/>
                    <a:pt x="2394" y="4823"/>
                  </a:cubicBezTo>
                  <a:cubicBezTo>
                    <a:pt x="2394" y="6501"/>
                    <a:pt x="3489" y="7930"/>
                    <a:pt x="4990" y="8454"/>
                  </a:cubicBezTo>
                  <a:cubicBezTo>
                    <a:pt x="5180" y="9025"/>
                    <a:pt x="5525" y="9549"/>
                    <a:pt x="5954" y="9966"/>
                  </a:cubicBezTo>
                  <a:cubicBezTo>
                    <a:pt x="5371" y="10383"/>
                    <a:pt x="4644" y="10657"/>
                    <a:pt x="3859" y="10657"/>
                  </a:cubicBezTo>
                  <a:cubicBezTo>
                    <a:pt x="3644" y="10657"/>
                    <a:pt x="3430" y="10645"/>
                    <a:pt x="3216" y="10597"/>
                  </a:cubicBezTo>
                  <a:lnTo>
                    <a:pt x="3216" y="10192"/>
                  </a:lnTo>
                  <a:cubicBezTo>
                    <a:pt x="3216" y="10085"/>
                    <a:pt x="3168" y="10002"/>
                    <a:pt x="3097" y="9942"/>
                  </a:cubicBezTo>
                  <a:cubicBezTo>
                    <a:pt x="3156" y="9680"/>
                    <a:pt x="3263" y="9454"/>
                    <a:pt x="3430" y="9240"/>
                  </a:cubicBezTo>
                  <a:cubicBezTo>
                    <a:pt x="3585" y="9025"/>
                    <a:pt x="3680" y="8775"/>
                    <a:pt x="3680" y="8513"/>
                  </a:cubicBezTo>
                  <a:cubicBezTo>
                    <a:pt x="3680" y="8180"/>
                    <a:pt x="3549" y="7871"/>
                    <a:pt x="3311" y="7632"/>
                  </a:cubicBezTo>
                  <a:cubicBezTo>
                    <a:pt x="3072" y="7416"/>
                    <a:pt x="2769" y="7298"/>
                    <a:pt x="2462" y="7298"/>
                  </a:cubicBezTo>
                  <a:cubicBezTo>
                    <a:pt x="2447" y="7298"/>
                    <a:pt x="2433" y="7298"/>
                    <a:pt x="2418" y="7299"/>
                  </a:cubicBezTo>
                  <a:cubicBezTo>
                    <a:pt x="1787" y="7335"/>
                    <a:pt x="1275" y="7835"/>
                    <a:pt x="1263" y="8466"/>
                  </a:cubicBezTo>
                  <a:cubicBezTo>
                    <a:pt x="1251" y="8752"/>
                    <a:pt x="1346" y="9025"/>
                    <a:pt x="1525" y="9252"/>
                  </a:cubicBezTo>
                  <a:cubicBezTo>
                    <a:pt x="1680" y="9466"/>
                    <a:pt x="1787" y="9704"/>
                    <a:pt x="1846" y="9954"/>
                  </a:cubicBezTo>
                  <a:lnTo>
                    <a:pt x="1799" y="10002"/>
                  </a:lnTo>
                  <a:cubicBezTo>
                    <a:pt x="906" y="9347"/>
                    <a:pt x="382" y="8311"/>
                    <a:pt x="382" y="7204"/>
                  </a:cubicBezTo>
                  <a:cubicBezTo>
                    <a:pt x="382" y="5775"/>
                    <a:pt x="1251" y="4537"/>
                    <a:pt x="2489" y="4013"/>
                  </a:cubicBezTo>
                  <a:close/>
                  <a:moveTo>
                    <a:pt x="2847" y="10680"/>
                  </a:moveTo>
                  <a:lnTo>
                    <a:pt x="2847" y="10788"/>
                  </a:lnTo>
                  <a:lnTo>
                    <a:pt x="2073" y="10788"/>
                  </a:lnTo>
                  <a:lnTo>
                    <a:pt x="2073" y="10680"/>
                  </a:lnTo>
                  <a:lnTo>
                    <a:pt x="2847" y="10680"/>
                  </a:lnTo>
                  <a:close/>
                  <a:moveTo>
                    <a:pt x="10848" y="10526"/>
                  </a:moveTo>
                  <a:lnTo>
                    <a:pt x="10848" y="10728"/>
                  </a:lnTo>
                  <a:cubicBezTo>
                    <a:pt x="10848" y="10764"/>
                    <a:pt x="10824" y="10788"/>
                    <a:pt x="10788" y="10788"/>
                  </a:cubicBezTo>
                  <a:lnTo>
                    <a:pt x="10169" y="10788"/>
                  </a:lnTo>
                  <a:cubicBezTo>
                    <a:pt x="10133" y="10788"/>
                    <a:pt x="10109" y="10764"/>
                    <a:pt x="10109" y="10728"/>
                  </a:cubicBezTo>
                  <a:lnTo>
                    <a:pt x="10109" y="10526"/>
                  </a:lnTo>
                  <a:lnTo>
                    <a:pt x="10848" y="10526"/>
                  </a:lnTo>
                  <a:close/>
                  <a:moveTo>
                    <a:pt x="6228" y="0"/>
                  </a:moveTo>
                  <a:cubicBezTo>
                    <a:pt x="5454" y="0"/>
                    <a:pt x="4823" y="584"/>
                    <a:pt x="4716" y="1310"/>
                  </a:cubicBezTo>
                  <a:cubicBezTo>
                    <a:pt x="4049" y="1596"/>
                    <a:pt x="3466" y="2072"/>
                    <a:pt x="3049" y="2667"/>
                  </a:cubicBezTo>
                  <a:cubicBezTo>
                    <a:pt x="2858" y="2941"/>
                    <a:pt x="2692" y="3263"/>
                    <a:pt x="2597" y="3584"/>
                  </a:cubicBezTo>
                  <a:cubicBezTo>
                    <a:pt x="1084" y="4108"/>
                    <a:pt x="1" y="5537"/>
                    <a:pt x="1" y="7216"/>
                  </a:cubicBezTo>
                  <a:cubicBezTo>
                    <a:pt x="1" y="8502"/>
                    <a:pt x="632" y="9692"/>
                    <a:pt x="1704" y="10407"/>
                  </a:cubicBezTo>
                  <a:lnTo>
                    <a:pt x="1704" y="10847"/>
                  </a:lnTo>
                  <a:cubicBezTo>
                    <a:pt x="1704" y="11026"/>
                    <a:pt x="1846" y="11180"/>
                    <a:pt x="2025" y="11180"/>
                  </a:cubicBezTo>
                  <a:lnTo>
                    <a:pt x="2858" y="11180"/>
                  </a:lnTo>
                  <a:cubicBezTo>
                    <a:pt x="2989" y="11180"/>
                    <a:pt x="3108" y="11097"/>
                    <a:pt x="3156" y="10978"/>
                  </a:cubicBezTo>
                  <a:cubicBezTo>
                    <a:pt x="3382" y="11026"/>
                    <a:pt x="3609" y="11038"/>
                    <a:pt x="3823" y="11038"/>
                  </a:cubicBezTo>
                  <a:cubicBezTo>
                    <a:pt x="4716" y="11038"/>
                    <a:pt x="5549" y="10728"/>
                    <a:pt x="6204" y="10204"/>
                  </a:cubicBezTo>
                  <a:cubicBezTo>
                    <a:pt x="6764" y="10645"/>
                    <a:pt x="7419" y="10919"/>
                    <a:pt x="8157" y="11014"/>
                  </a:cubicBezTo>
                  <a:lnTo>
                    <a:pt x="8169" y="11014"/>
                  </a:lnTo>
                  <a:cubicBezTo>
                    <a:pt x="8264" y="11014"/>
                    <a:pt x="8335" y="10942"/>
                    <a:pt x="8347" y="10847"/>
                  </a:cubicBezTo>
                  <a:cubicBezTo>
                    <a:pt x="8371" y="10740"/>
                    <a:pt x="8288" y="10657"/>
                    <a:pt x="8192" y="10645"/>
                  </a:cubicBezTo>
                  <a:cubicBezTo>
                    <a:pt x="7550" y="10561"/>
                    <a:pt x="6966" y="10323"/>
                    <a:pt x="6490" y="9954"/>
                  </a:cubicBezTo>
                  <a:cubicBezTo>
                    <a:pt x="6918" y="9537"/>
                    <a:pt x="7264" y="9014"/>
                    <a:pt x="7454" y="8442"/>
                  </a:cubicBezTo>
                  <a:cubicBezTo>
                    <a:pt x="8966" y="7918"/>
                    <a:pt x="10050" y="6489"/>
                    <a:pt x="10050" y="4811"/>
                  </a:cubicBezTo>
                  <a:cubicBezTo>
                    <a:pt x="10050" y="4525"/>
                    <a:pt x="10014" y="4251"/>
                    <a:pt x="9955" y="4001"/>
                  </a:cubicBezTo>
                  <a:cubicBezTo>
                    <a:pt x="11193" y="4537"/>
                    <a:pt x="12062" y="5763"/>
                    <a:pt x="12062" y="7192"/>
                  </a:cubicBezTo>
                  <a:cubicBezTo>
                    <a:pt x="12062" y="8037"/>
                    <a:pt x="11741" y="8859"/>
                    <a:pt x="11181" y="9490"/>
                  </a:cubicBezTo>
                  <a:lnTo>
                    <a:pt x="11181" y="8597"/>
                  </a:lnTo>
                  <a:cubicBezTo>
                    <a:pt x="11181" y="8466"/>
                    <a:pt x="11109" y="8335"/>
                    <a:pt x="11002" y="8263"/>
                  </a:cubicBezTo>
                  <a:lnTo>
                    <a:pt x="10717" y="7644"/>
                  </a:lnTo>
                  <a:cubicBezTo>
                    <a:pt x="10669" y="7549"/>
                    <a:pt x="10574" y="7466"/>
                    <a:pt x="10455" y="7466"/>
                  </a:cubicBezTo>
                  <a:cubicBezTo>
                    <a:pt x="10336" y="7466"/>
                    <a:pt x="10228" y="7525"/>
                    <a:pt x="10181" y="7644"/>
                  </a:cubicBezTo>
                  <a:lnTo>
                    <a:pt x="9895" y="8263"/>
                  </a:lnTo>
                  <a:cubicBezTo>
                    <a:pt x="9800" y="8335"/>
                    <a:pt x="9716" y="8466"/>
                    <a:pt x="9716" y="8597"/>
                  </a:cubicBezTo>
                  <a:lnTo>
                    <a:pt x="9716" y="10478"/>
                  </a:lnTo>
                  <a:cubicBezTo>
                    <a:pt x="9466" y="10561"/>
                    <a:pt x="9216" y="10621"/>
                    <a:pt x="8943" y="10645"/>
                  </a:cubicBezTo>
                  <a:cubicBezTo>
                    <a:pt x="8847" y="10657"/>
                    <a:pt x="8764" y="10740"/>
                    <a:pt x="8788" y="10835"/>
                  </a:cubicBezTo>
                  <a:cubicBezTo>
                    <a:pt x="8800" y="10919"/>
                    <a:pt x="8871" y="11002"/>
                    <a:pt x="8966" y="11002"/>
                  </a:cubicBezTo>
                  <a:lnTo>
                    <a:pt x="8978" y="11002"/>
                  </a:lnTo>
                  <a:cubicBezTo>
                    <a:pt x="9228" y="10966"/>
                    <a:pt x="9478" y="10919"/>
                    <a:pt x="9740" y="10847"/>
                  </a:cubicBezTo>
                  <a:cubicBezTo>
                    <a:pt x="9776" y="11026"/>
                    <a:pt x="9943" y="11157"/>
                    <a:pt x="10133" y="11157"/>
                  </a:cubicBezTo>
                  <a:lnTo>
                    <a:pt x="10764" y="11157"/>
                  </a:lnTo>
                  <a:cubicBezTo>
                    <a:pt x="11002" y="11157"/>
                    <a:pt x="11193" y="10966"/>
                    <a:pt x="11193" y="10728"/>
                  </a:cubicBezTo>
                  <a:lnTo>
                    <a:pt x="11193" y="10014"/>
                  </a:lnTo>
                  <a:cubicBezTo>
                    <a:pt x="12002" y="9287"/>
                    <a:pt x="12455" y="8263"/>
                    <a:pt x="12455" y="7192"/>
                  </a:cubicBezTo>
                  <a:cubicBezTo>
                    <a:pt x="12455" y="5501"/>
                    <a:pt x="11371" y="4072"/>
                    <a:pt x="9871" y="3560"/>
                  </a:cubicBezTo>
                  <a:cubicBezTo>
                    <a:pt x="9740" y="3168"/>
                    <a:pt x="9538" y="2798"/>
                    <a:pt x="9276" y="2465"/>
                  </a:cubicBezTo>
                  <a:cubicBezTo>
                    <a:pt x="9242" y="2425"/>
                    <a:pt x="9189" y="2403"/>
                    <a:pt x="9137" y="2403"/>
                  </a:cubicBezTo>
                  <a:cubicBezTo>
                    <a:pt x="9097" y="2403"/>
                    <a:pt x="9057" y="2416"/>
                    <a:pt x="9026" y="2441"/>
                  </a:cubicBezTo>
                  <a:cubicBezTo>
                    <a:pt x="8943" y="2501"/>
                    <a:pt x="8931" y="2620"/>
                    <a:pt x="8990" y="2691"/>
                  </a:cubicBezTo>
                  <a:cubicBezTo>
                    <a:pt x="9169" y="2929"/>
                    <a:pt x="9324" y="3168"/>
                    <a:pt x="9443" y="3441"/>
                  </a:cubicBezTo>
                  <a:cubicBezTo>
                    <a:pt x="9169" y="3382"/>
                    <a:pt x="8907" y="3346"/>
                    <a:pt x="8621" y="3346"/>
                  </a:cubicBezTo>
                  <a:cubicBezTo>
                    <a:pt x="7728" y="3346"/>
                    <a:pt x="6895" y="3656"/>
                    <a:pt x="6240" y="4180"/>
                  </a:cubicBezTo>
                  <a:cubicBezTo>
                    <a:pt x="5930" y="3930"/>
                    <a:pt x="5573" y="3739"/>
                    <a:pt x="5192" y="3584"/>
                  </a:cubicBezTo>
                  <a:cubicBezTo>
                    <a:pt x="5175" y="3580"/>
                    <a:pt x="5158" y="3577"/>
                    <a:pt x="5140" y="3577"/>
                  </a:cubicBezTo>
                  <a:cubicBezTo>
                    <a:pt x="5068" y="3577"/>
                    <a:pt x="4992" y="3615"/>
                    <a:pt x="4954" y="3691"/>
                  </a:cubicBezTo>
                  <a:cubicBezTo>
                    <a:pt x="4930" y="3775"/>
                    <a:pt x="4978" y="3882"/>
                    <a:pt x="5061" y="3930"/>
                  </a:cubicBezTo>
                  <a:cubicBezTo>
                    <a:pt x="5394" y="4049"/>
                    <a:pt x="5692" y="4215"/>
                    <a:pt x="5954" y="4418"/>
                  </a:cubicBezTo>
                  <a:cubicBezTo>
                    <a:pt x="5228" y="5120"/>
                    <a:pt x="4775" y="6096"/>
                    <a:pt x="4775" y="7192"/>
                  </a:cubicBezTo>
                  <a:cubicBezTo>
                    <a:pt x="4775" y="7466"/>
                    <a:pt x="4811" y="7740"/>
                    <a:pt x="4871" y="7990"/>
                  </a:cubicBezTo>
                  <a:cubicBezTo>
                    <a:pt x="3632" y="7454"/>
                    <a:pt x="2775" y="6239"/>
                    <a:pt x="2775" y="4811"/>
                  </a:cubicBezTo>
                  <a:cubicBezTo>
                    <a:pt x="2775" y="4477"/>
                    <a:pt x="2811" y="4156"/>
                    <a:pt x="2906" y="3858"/>
                  </a:cubicBezTo>
                  <a:cubicBezTo>
                    <a:pt x="3204" y="3763"/>
                    <a:pt x="3525" y="3715"/>
                    <a:pt x="3859" y="3715"/>
                  </a:cubicBezTo>
                  <a:cubicBezTo>
                    <a:pt x="4025" y="3715"/>
                    <a:pt x="4168" y="3739"/>
                    <a:pt x="4335" y="3751"/>
                  </a:cubicBezTo>
                  <a:cubicBezTo>
                    <a:pt x="4342" y="3752"/>
                    <a:pt x="4349" y="3752"/>
                    <a:pt x="4356" y="3752"/>
                  </a:cubicBezTo>
                  <a:cubicBezTo>
                    <a:pt x="4444" y="3752"/>
                    <a:pt x="4526" y="3684"/>
                    <a:pt x="4537" y="3596"/>
                  </a:cubicBezTo>
                  <a:cubicBezTo>
                    <a:pt x="4549" y="3501"/>
                    <a:pt x="4478" y="3406"/>
                    <a:pt x="4394" y="3394"/>
                  </a:cubicBezTo>
                  <a:cubicBezTo>
                    <a:pt x="4216" y="3358"/>
                    <a:pt x="4049" y="3358"/>
                    <a:pt x="3870" y="3358"/>
                  </a:cubicBezTo>
                  <a:cubicBezTo>
                    <a:pt x="3585" y="3358"/>
                    <a:pt x="3323" y="3394"/>
                    <a:pt x="3049" y="3453"/>
                  </a:cubicBezTo>
                  <a:cubicBezTo>
                    <a:pt x="3144" y="3239"/>
                    <a:pt x="3239" y="3048"/>
                    <a:pt x="3382" y="2858"/>
                  </a:cubicBezTo>
                  <a:cubicBezTo>
                    <a:pt x="3716" y="2346"/>
                    <a:pt x="4192" y="1953"/>
                    <a:pt x="4728" y="1691"/>
                  </a:cubicBezTo>
                  <a:cubicBezTo>
                    <a:pt x="4835" y="2441"/>
                    <a:pt x="5466" y="3025"/>
                    <a:pt x="6240" y="3025"/>
                  </a:cubicBezTo>
                  <a:cubicBezTo>
                    <a:pt x="7014" y="3025"/>
                    <a:pt x="7657" y="2441"/>
                    <a:pt x="7740" y="1691"/>
                  </a:cubicBezTo>
                  <a:cubicBezTo>
                    <a:pt x="7990" y="1810"/>
                    <a:pt x="8228" y="1977"/>
                    <a:pt x="8454" y="2156"/>
                  </a:cubicBezTo>
                  <a:cubicBezTo>
                    <a:pt x="8490" y="2191"/>
                    <a:pt x="8526" y="2203"/>
                    <a:pt x="8573" y="2203"/>
                  </a:cubicBezTo>
                  <a:cubicBezTo>
                    <a:pt x="8633" y="2203"/>
                    <a:pt x="8681" y="2191"/>
                    <a:pt x="8704" y="2144"/>
                  </a:cubicBezTo>
                  <a:cubicBezTo>
                    <a:pt x="8764" y="2072"/>
                    <a:pt x="8764" y="1953"/>
                    <a:pt x="8681" y="1894"/>
                  </a:cubicBezTo>
                  <a:cubicBezTo>
                    <a:pt x="8395" y="1655"/>
                    <a:pt x="8073" y="1453"/>
                    <a:pt x="7728" y="1310"/>
                  </a:cubicBezTo>
                  <a:cubicBezTo>
                    <a:pt x="7621" y="560"/>
                    <a:pt x="7002" y="0"/>
                    <a:pt x="6228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35" name="Google Shape;1397;p105">
              <a:extLst>
                <a:ext uri="{FF2B5EF4-FFF2-40B4-BE49-F238E27FC236}">
                  <a16:creationId xmlns:a16="http://schemas.microsoft.com/office/drawing/2014/main" id="{5E968702-FFD8-EF3D-A95E-D5D886FAC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770" y="4294553"/>
              <a:ext cx="22741" cy="35622"/>
            </a:xfrm>
            <a:custGeom>
              <a:avLst/>
              <a:gdLst>
                <a:gd name="T0" fmla="*/ 191 w 715"/>
                <a:gd name="T1" fmla="*/ 0 h 1120"/>
                <a:gd name="T2" fmla="*/ 12 w 715"/>
                <a:gd name="T3" fmla="*/ 179 h 1120"/>
                <a:gd name="T4" fmla="*/ 12 w 715"/>
                <a:gd name="T5" fmla="*/ 941 h 1120"/>
                <a:gd name="T6" fmla="*/ 191 w 715"/>
                <a:gd name="T7" fmla="*/ 1119 h 1120"/>
                <a:gd name="T8" fmla="*/ 536 w 715"/>
                <a:gd name="T9" fmla="*/ 1119 h 1120"/>
                <a:gd name="T10" fmla="*/ 715 w 715"/>
                <a:gd name="T11" fmla="*/ 941 h 1120"/>
                <a:gd name="T12" fmla="*/ 536 w 715"/>
                <a:gd name="T13" fmla="*/ 750 h 1120"/>
                <a:gd name="T14" fmla="*/ 369 w 715"/>
                <a:gd name="T15" fmla="*/ 750 h 1120"/>
                <a:gd name="T16" fmla="*/ 369 w 715"/>
                <a:gd name="T17" fmla="*/ 179 h 1120"/>
                <a:gd name="T18" fmla="*/ 191 w 715"/>
                <a:gd name="T19" fmla="*/ 0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5" h="1120" extrusionOk="0">
                  <a:moveTo>
                    <a:pt x="191" y="0"/>
                  </a:moveTo>
                  <a:cubicBezTo>
                    <a:pt x="84" y="0"/>
                    <a:pt x="12" y="72"/>
                    <a:pt x="12" y="179"/>
                  </a:cubicBezTo>
                  <a:lnTo>
                    <a:pt x="12" y="941"/>
                  </a:lnTo>
                  <a:cubicBezTo>
                    <a:pt x="0" y="1036"/>
                    <a:pt x="84" y="1119"/>
                    <a:pt x="191" y="1119"/>
                  </a:cubicBezTo>
                  <a:lnTo>
                    <a:pt x="536" y="1119"/>
                  </a:lnTo>
                  <a:cubicBezTo>
                    <a:pt x="631" y="1119"/>
                    <a:pt x="715" y="1036"/>
                    <a:pt x="715" y="941"/>
                  </a:cubicBezTo>
                  <a:cubicBezTo>
                    <a:pt x="715" y="834"/>
                    <a:pt x="631" y="750"/>
                    <a:pt x="536" y="750"/>
                  </a:cubicBezTo>
                  <a:lnTo>
                    <a:pt x="369" y="750"/>
                  </a:lnTo>
                  <a:lnTo>
                    <a:pt x="369" y="179"/>
                  </a:lnTo>
                  <a:cubicBezTo>
                    <a:pt x="369" y="72"/>
                    <a:pt x="298" y="0"/>
                    <a:pt x="191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36" name="Google Shape;1398;p105">
              <a:extLst>
                <a:ext uri="{FF2B5EF4-FFF2-40B4-BE49-F238E27FC236}">
                  <a16:creationId xmlns:a16="http://schemas.microsoft.com/office/drawing/2014/main" id="{9D131D15-B7C0-A428-DB88-6968DA11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292" y="4456250"/>
              <a:ext cx="30724" cy="64055"/>
            </a:xfrm>
            <a:custGeom>
              <a:avLst/>
              <a:gdLst>
                <a:gd name="T0" fmla="*/ 477 w 966"/>
                <a:gd name="T1" fmla="*/ 0 h 2014"/>
                <a:gd name="T2" fmla="*/ 298 w 966"/>
                <a:gd name="T3" fmla="*/ 179 h 2014"/>
                <a:gd name="T4" fmla="*/ 298 w 966"/>
                <a:gd name="T5" fmla="*/ 262 h 2014"/>
                <a:gd name="T6" fmla="*/ 1 w 966"/>
                <a:gd name="T7" fmla="*/ 703 h 2014"/>
                <a:gd name="T8" fmla="*/ 489 w 966"/>
                <a:gd name="T9" fmla="*/ 1191 h 2014"/>
                <a:gd name="T10" fmla="*/ 608 w 966"/>
                <a:gd name="T11" fmla="*/ 1310 h 2014"/>
                <a:gd name="T12" fmla="*/ 489 w 966"/>
                <a:gd name="T13" fmla="*/ 1429 h 2014"/>
                <a:gd name="T14" fmla="*/ 382 w 966"/>
                <a:gd name="T15" fmla="*/ 1358 h 2014"/>
                <a:gd name="T16" fmla="*/ 216 w 966"/>
                <a:gd name="T17" fmla="*/ 1249 h 2014"/>
                <a:gd name="T18" fmla="*/ 144 w 966"/>
                <a:gd name="T19" fmla="*/ 1262 h 2014"/>
                <a:gd name="T20" fmla="*/ 60 w 966"/>
                <a:gd name="T21" fmla="*/ 1500 h 2014"/>
                <a:gd name="T22" fmla="*/ 310 w 966"/>
                <a:gd name="T23" fmla="*/ 1739 h 2014"/>
                <a:gd name="T24" fmla="*/ 310 w 966"/>
                <a:gd name="T25" fmla="*/ 1834 h 2014"/>
                <a:gd name="T26" fmla="*/ 489 w 966"/>
                <a:gd name="T27" fmla="*/ 2012 h 2014"/>
                <a:gd name="T28" fmla="*/ 507 w 966"/>
                <a:gd name="T29" fmla="*/ 2014 h 2014"/>
                <a:gd name="T30" fmla="*/ 667 w 966"/>
                <a:gd name="T31" fmla="*/ 1846 h 2014"/>
                <a:gd name="T32" fmla="*/ 667 w 966"/>
                <a:gd name="T33" fmla="*/ 1762 h 2014"/>
                <a:gd name="T34" fmla="*/ 965 w 966"/>
                <a:gd name="T35" fmla="*/ 1310 h 2014"/>
                <a:gd name="T36" fmla="*/ 477 w 966"/>
                <a:gd name="T37" fmla="*/ 822 h 2014"/>
                <a:gd name="T38" fmla="*/ 358 w 966"/>
                <a:gd name="T39" fmla="*/ 703 h 2014"/>
                <a:gd name="T40" fmla="*/ 477 w 966"/>
                <a:gd name="T41" fmla="*/ 584 h 2014"/>
                <a:gd name="T42" fmla="*/ 572 w 966"/>
                <a:gd name="T43" fmla="*/ 643 h 2014"/>
                <a:gd name="T44" fmla="*/ 717 w 966"/>
                <a:gd name="T45" fmla="*/ 727 h 2014"/>
                <a:gd name="T46" fmla="*/ 834 w 966"/>
                <a:gd name="T47" fmla="*/ 691 h 2014"/>
                <a:gd name="T48" fmla="*/ 870 w 966"/>
                <a:gd name="T49" fmla="*/ 441 h 2014"/>
                <a:gd name="T50" fmla="*/ 656 w 966"/>
                <a:gd name="T51" fmla="*/ 262 h 2014"/>
                <a:gd name="T52" fmla="*/ 656 w 966"/>
                <a:gd name="T53" fmla="*/ 179 h 2014"/>
                <a:gd name="T54" fmla="*/ 477 w 966"/>
                <a:gd name="T55" fmla="*/ 0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66" h="2014" extrusionOk="0">
                  <a:moveTo>
                    <a:pt x="477" y="0"/>
                  </a:moveTo>
                  <a:cubicBezTo>
                    <a:pt x="370" y="0"/>
                    <a:pt x="298" y="84"/>
                    <a:pt x="298" y="179"/>
                  </a:cubicBezTo>
                  <a:lnTo>
                    <a:pt x="298" y="262"/>
                  </a:lnTo>
                  <a:cubicBezTo>
                    <a:pt x="120" y="334"/>
                    <a:pt x="1" y="512"/>
                    <a:pt x="1" y="703"/>
                  </a:cubicBezTo>
                  <a:cubicBezTo>
                    <a:pt x="1" y="977"/>
                    <a:pt x="215" y="1191"/>
                    <a:pt x="489" y="1191"/>
                  </a:cubicBezTo>
                  <a:cubicBezTo>
                    <a:pt x="560" y="1191"/>
                    <a:pt x="608" y="1250"/>
                    <a:pt x="608" y="1310"/>
                  </a:cubicBezTo>
                  <a:cubicBezTo>
                    <a:pt x="608" y="1381"/>
                    <a:pt x="548" y="1429"/>
                    <a:pt x="489" y="1429"/>
                  </a:cubicBezTo>
                  <a:cubicBezTo>
                    <a:pt x="441" y="1429"/>
                    <a:pt x="394" y="1405"/>
                    <a:pt x="382" y="1358"/>
                  </a:cubicBezTo>
                  <a:cubicBezTo>
                    <a:pt x="346" y="1287"/>
                    <a:pt x="284" y="1249"/>
                    <a:pt x="216" y="1249"/>
                  </a:cubicBezTo>
                  <a:cubicBezTo>
                    <a:pt x="192" y="1249"/>
                    <a:pt x="168" y="1253"/>
                    <a:pt x="144" y="1262"/>
                  </a:cubicBezTo>
                  <a:cubicBezTo>
                    <a:pt x="60" y="1310"/>
                    <a:pt x="13" y="1417"/>
                    <a:pt x="60" y="1500"/>
                  </a:cubicBezTo>
                  <a:cubicBezTo>
                    <a:pt x="120" y="1608"/>
                    <a:pt x="203" y="1703"/>
                    <a:pt x="310" y="1739"/>
                  </a:cubicBezTo>
                  <a:lnTo>
                    <a:pt x="310" y="1834"/>
                  </a:lnTo>
                  <a:cubicBezTo>
                    <a:pt x="310" y="1941"/>
                    <a:pt x="382" y="2012"/>
                    <a:pt x="489" y="2012"/>
                  </a:cubicBezTo>
                  <a:cubicBezTo>
                    <a:pt x="495" y="2013"/>
                    <a:pt x="501" y="2014"/>
                    <a:pt x="507" y="2014"/>
                  </a:cubicBezTo>
                  <a:cubicBezTo>
                    <a:pt x="586" y="2014"/>
                    <a:pt x="667" y="1945"/>
                    <a:pt x="667" y="1846"/>
                  </a:cubicBezTo>
                  <a:lnTo>
                    <a:pt x="667" y="1762"/>
                  </a:lnTo>
                  <a:cubicBezTo>
                    <a:pt x="846" y="1691"/>
                    <a:pt x="965" y="1512"/>
                    <a:pt x="965" y="1310"/>
                  </a:cubicBezTo>
                  <a:cubicBezTo>
                    <a:pt x="965" y="1048"/>
                    <a:pt x="739" y="822"/>
                    <a:pt x="477" y="822"/>
                  </a:cubicBezTo>
                  <a:cubicBezTo>
                    <a:pt x="394" y="822"/>
                    <a:pt x="358" y="762"/>
                    <a:pt x="358" y="703"/>
                  </a:cubicBezTo>
                  <a:cubicBezTo>
                    <a:pt x="358" y="631"/>
                    <a:pt x="417" y="584"/>
                    <a:pt x="477" y="584"/>
                  </a:cubicBezTo>
                  <a:cubicBezTo>
                    <a:pt x="513" y="584"/>
                    <a:pt x="548" y="596"/>
                    <a:pt x="572" y="643"/>
                  </a:cubicBezTo>
                  <a:cubicBezTo>
                    <a:pt x="608" y="700"/>
                    <a:pt x="660" y="727"/>
                    <a:pt x="717" y="727"/>
                  </a:cubicBezTo>
                  <a:cubicBezTo>
                    <a:pt x="755" y="727"/>
                    <a:pt x="796" y="715"/>
                    <a:pt x="834" y="691"/>
                  </a:cubicBezTo>
                  <a:cubicBezTo>
                    <a:pt x="917" y="631"/>
                    <a:pt x="929" y="524"/>
                    <a:pt x="870" y="441"/>
                  </a:cubicBezTo>
                  <a:cubicBezTo>
                    <a:pt x="810" y="357"/>
                    <a:pt x="739" y="286"/>
                    <a:pt x="656" y="262"/>
                  </a:cubicBezTo>
                  <a:lnTo>
                    <a:pt x="656" y="179"/>
                  </a:lnTo>
                  <a:cubicBezTo>
                    <a:pt x="656" y="84"/>
                    <a:pt x="572" y="0"/>
                    <a:pt x="477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37" name="Google Shape;1399;p105">
              <a:extLst>
                <a:ext uri="{FF2B5EF4-FFF2-40B4-BE49-F238E27FC236}">
                  <a16:creationId xmlns:a16="http://schemas.microsoft.com/office/drawing/2014/main" id="{701DC4F5-A477-1E15-F0C5-D929F580A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713" y="4487196"/>
              <a:ext cx="17461" cy="16030"/>
            </a:xfrm>
            <a:custGeom>
              <a:avLst/>
              <a:gdLst>
                <a:gd name="T0" fmla="*/ 193 w 549"/>
                <a:gd name="T1" fmla="*/ 1 h 504"/>
                <a:gd name="T2" fmla="*/ 72 w 549"/>
                <a:gd name="T3" fmla="*/ 63 h 504"/>
                <a:gd name="T4" fmla="*/ 72 w 549"/>
                <a:gd name="T5" fmla="*/ 313 h 504"/>
                <a:gd name="T6" fmla="*/ 203 w 549"/>
                <a:gd name="T7" fmla="*/ 444 h 504"/>
                <a:gd name="T8" fmla="*/ 334 w 549"/>
                <a:gd name="T9" fmla="*/ 504 h 504"/>
                <a:gd name="T10" fmla="*/ 465 w 549"/>
                <a:gd name="T11" fmla="*/ 444 h 504"/>
                <a:gd name="T12" fmla="*/ 465 w 549"/>
                <a:gd name="T13" fmla="*/ 194 h 504"/>
                <a:gd name="T14" fmla="*/ 322 w 549"/>
                <a:gd name="T15" fmla="*/ 63 h 504"/>
                <a:gd name="T16" fmla="*/ 193 w 549"/>
                <a:gd name="T17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9" h="504" extrusionOk="0">
                  <a:moveTo>
                    <a:pt x="193" y="1"/>
                  </a:moveTo>
                  <a:cubicBezTo>
                    <a:pt x="147" y="1"/>
                    <a:pt x="102" y="21"/>
                    <a:pt x="72" y="63"/>
                  </a:cubicBezTo>
                  <a:cubicBezTo>
                    <a:pt x="1" y="135"/>
                    <a:pt x="1" y="254"/>
                    <a:pt x="72" y="313"/>
                  </a:cubicBezTo>
                  <a:lnTo>
                    <a:pt x="203" y="444"/>
                  </a:lnTo>
                  <a:cubicBezTo>
                    <a:pt x="227" y="480"/>
                    <a:pt x="298" y="504"/>
                    <a:pt x="334" y="504"/>
                  </a:cubicBezTo>
                  <a:cubicBezTo>
                    <a:pt x="382" y="504"/>
                    <a:pt x="429" y="492"/>
                    <a:pt x="465" y="444"/>
                  </a:cubicBezTo>
                  <a:cubicBezTo>
                    <a:pt x="548" y="373"/>
                    <a:pt x="548" y="254"/>
                    <a:pt x="465" y="194"/>
                  </a:cubicBezTo>
                  <a:lnTo>
                    <a:pt x="322" y="63"/>
                  </a:lnTo>
                  <a:cubicBezTo>
                    <a:pt x="286" y="21"/>
                    <a:pt x="239" y="1"/>
                    <a:pt x="193" y="1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38" name="Google Shape;1400;p105">
              <a:extLst>
                <a:ext uri="{FF2B5EF4-FFF2-40B4-BE49-F238E27FC236}">
                  <a16:creationId xmlns:a16="http://schemas.microsoft.com/office/drawing/2014/main" id="{DDBA46C6-1C06-9496-BAFE-02B8C7104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740" y="4502494"/>
              <a:ext cx="19337" cy="13231"/>
            </a:xfrm>
            <a:custGeom>
              <a:avLst/>
              <a:gdLst>
                <a:gd name="T0" fmla="*/ 190 w 608"/>
                <a:gd name="T1" fmla="*/ 0 h 416"/>
                <a:gd name="T2" fmla="*/ 24 w 608"/>
                <a:gd name="T3" fmla="*/ 142 h 416"/>
                <a:gd name="T4" fmla="*/ 155 w 608"/>
                <a:gd name="T5" fmla="*/ 368 h 416"/>
                <a:gd name="T6" fmla="*/ 358 w 608"/>
                <a:gd name="T7" fmla="*/ 416 h 416"/>
                <a:gd name="T8" fmla="*/ 405 w 608"/>
                <a:gd name="T9" fmla="*/ 416 h 416"/>
                <a:gd name="T10" fmla="*/ 572 w 608"/>
                <a:gd name="T11" fmla="*/ 273 h 416"/>
                <a:gd name="T12" fmla="*/ 441 w 608"/>
                <a:gd name="T13" fmla="*/ 58 h 416"/>
                <a:gd name="T14" fmla="*/ 250 w 608"/>
                <a:gd name="T15" fmla="*/ 11 h 416"/>
                <a:gd name="T16" fmla="*/ 190 w 608"/>
                <a:gd name="T1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8" h="416" extrusionOk="0">
                  <a:moveTo>
                    <a:pt x="190" y="0"/>
                  </a:moveTo>
                  <a:cubicBezTo>
                    <a:pt x="112" y="0"/>
                    <a:pt x="53" y="56"/>
                    <a:pt x="24" y="142"/>
                  </a:cubicBezTo>
                  <a:cubicBezTo>
                    <a:pt x="0" y="249"/>
                    <a:pt x="60" y="332"/>
                    <a:pt x="155" y="368"/>
                  </a:cubicBezTo>
                  <a:lnTo>
                    <a:pt x="358" y="416"/>
                  </a:lnTo>
                  <a:lnTo>
                    <a:pt x="405" y="416"/>
                  </a:lnTo>
                  <a:cubicBezTo>
                    <a:pt x="477" y="416"/>
                    <a:pt x="548" y="356"/>
                    <a:pt x="572" y="273"/>
                  </a:cubicBezTo>
                  <a:cubicBezTo>
                    <a:pt x="608" y="189"/>
                    <a:pt x="548" y="82"/>
                    <a:pt x="441" y="58"/>
                  </a:cubicBezTo>
                  <a:lnTo>
                    <a:pt x="250" y="11"/>
                  </a:lnTo>
                  <a:cubicBezTo>
                    <a:pt x="229" y="4"/>
                    <a:pt x="209" y="0"/>
                    <a:pt x="190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39" name="Google Shape;1401;p105">
              <a:extLst>
                <a:ext uri="{FF2B5EF4-FFF2-40B4-BE49-F238E27FC236}">
                  <a16:creationId xmlns:a16="http://schemas.microsoft.com/office/drawing/2014/main" id="{E2C5D2B4-A942-CE5E-C25A-EBEB29CDD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852" y="4477019"/>
              <a:ext cx="13676" cy="17874"/>
            </a:xfrm>
            <a:custGeom>
              <a:avLst/>
              <a:gdLst>
                <a:gd name="T0" fmla="*/ 175 w 430"/>
                <a:gd name="T1" fmla="*/ 0 h 562"/>
                <a:gd name="T2" fmla="*/ 144 w 430"/>
                <a:gd name="T3" fmla="*/ 2 h 562"/>
                <a:gd name="T4" fmla="*/ 13 w 430"/>
                <a:gd name="T5" fmla="*/ 228 h 562"/>
                <a:gd name="T6" fmla="*/ 60 w 430"/>
                <a:gd name="T7" fmla="*/ 419 h 562"/>
                <a:gd name="T8" fmla="*/ 239 w 430"/>
                <a:gd name="T9" fmla="*/ 562 h 562"/>
                <a:gd name="T10" fmla="*/ 275 w 430"/>
                <a:gd name="T11" fmla="*/ 562 h 562"/>
                <a:gd name="T12" fmla="*/ 418 w 430"/>
                <a:gd name="T13" fmla="*/ 335 h 562"/>
                <a:gd name="T14" fmla="*/ 370 w 430"/>
                <a:gd name="T15" fmla="*/ 145 h 562"/>
                <a:gd name="T16" fmla="*/ 175 w 430"/>
                <a:gd name="T17" fmla="*/ 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0" h="562" extrusionOk="0">
                  <a:moveTo>
                    <a:pt x="175" y="0"/>
                  </a:moveTo>
                  <a:cubicBezTo>
                    <a:pt x="165" y="0"/>
                    <a:pt x="155" y="1"/>
                    <a:pt x="144" y="2"/>
                  </a:cubicBezTo>
                  <a:cubicBezTo>
                    <a:pt x="37" y="38"/>
                    <a:pt x="1" y="121"/>
                    <a:pt x="13" y="228"/>
                  </a:cubicBezTo>
                  <a:lnTo>
                    <a:pt x="60" y="419"/>
                  </a:lnTo>
                  <a:cubicBezTo>
                    <a:pt x="72" y="502"/>
                    <a:pt x="144" y="562"/>
                    <a:pt x="239" y="562"/>
                  </a:cubicBezTo>
                  <a:lnTo>
                    <a:pt x="275" y="562"/>
                  </a:lnTo>
                  <a:cubicBezTo>
                    <a:pt x="382" y="526"/>
                    <a:pt x="430" y="443"/>
                    <a:pt x="418" y="335"/>
                  </a:cubicBezTo>
                  <a:lnTo>
                    <a:pt x="370" y="145"/>
                  </a:lnTo>
                  <a:cubicBezTo>
                    <a:pt x="338" y="49"/>
                    <a:pt x="267" y="0"/>
                    <a:pt x="175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04162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799;p74">
            <a:extLst>
              <a:ext uri="{FF2B5EF4-FFF2-40B4-BE49-F238E27FC236}">
                <a16:creationId xmlns:a16="http://schemas.microsoft.com/office/drawing/2014/main" id="{61920145-BD53-EAB4-AD5F-ECD5BE84CAAA}"/>
              </a:ext>
            </a:extLst>
          </p:cNvPr>
          <p:cNvSpPr txBox="1">
            <a:spLocks noGrp="1" noChangeArrowheads="1"/>
          </p:cNvSpPr>
          <p:nvPr>
            <p:ph type="title" idx="8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dirty="0">
                <a:solidFill>
                  <a:srgbClr val="003B71"/>
                </a:solidFill>
                <a:latin typeface="Bookman Old Style"/>
              </a:rPr>
              <a:t>METHODOLOGY</a:t>
            </a:r>
            <a:endParaRPr lang="en-US" altLang="en-US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  <p:sp>
        <p:nvSpPr>
          <p:cNvPr id="103427" name="Google Shape;800;p74">
            <a:extLst>
              <a:ext uri="{FF2B5EF4-FFF2-40B4-BE49-F238E27FC236}">
                <a16:creationId xmlns:a16="http://schemas.microsoft.com/office/drawing/2014/main" id="{5948E307-5805-71BD-5FE4-7BE0B1ED253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603376" y="1784817"/>
            <a:ext cx="2999126" cy="374436"/>
          </a:xfrm>
        </p:spPr>
        <p:txBody>
          <a:bodyPr/>
          <a:lstStyle/>
          <a:p>
            <a: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Phase1:</a:t>
            </a:r>
            <a:b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</a:b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Market Research and Industry Analysis</a:t>
            </a:r>
          </a:p>
        </p:txBody>
      </p:sp>
      <p:sp>
        <p:nvSpPr>
          <p:cNvPr id="103428" name="Google Shape;801;p74">
            <a:extLst>
              <a:ext uri="{FF2B5EF4-FFF2-40B4-BE49-F238E27FC236}">
                <a16:creationId xmlns:a16="http://schemas.microsoft.com/office/drawing/2014/main" id="{075750ED-6773-662B-08B8-9F3F05CEFC52}"/>
              </a:ext>
            </a:extLst>
          </p:cNvPr>
          <p:cNvSpPr txBox="1">
            <a:spLocks noGrp="1" noChangeArrowheads="1"/>
          </p:cNvSpPr>
          <p:nvPr>
            <p:ph type="title" idx="2"/>
          </p:nvPr>
        </p:nvSpPr>
        <p:spPr>
          <a:xfrm>
            <a:off x="5657843" y="1465109"/>
            <a:ext cx="3171031" cy="39965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br>
              <a:rPr lang="en-US" dirty="0">
                <a:latin typeface="Bookman Old Style"/>
                <a:sym typeface="Bookman Old Style" panose="02050604050505020204" pitchFamily="18" charset="0"/>
              </a:rPr>
            </a:br>
            <a:endParaRPr lang="en-US" sz="2000" b="1" dirty="0">
              <a:solidFill>
                <a:srgbClr val="003B71"/>
              </a:solidFill>
              <a:latin typeface="Bookman Old Style"/>
              <a:sym typeface="Bookman Old Style" panose="020506040505050202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Phase 2: </a:t>
            </a:r>
            <a:b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</a:b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Primary Research and Customer Outreach</a:t>
            </a:r>
            <a:endParaRPr lang="en-US" sz="2000" dirty="0">
              <a:solidFill>
                <a:srgbClr val="003B71"/>
              </a:solidFill>
              <a:latin typeface="Bookman Old Style"/>
            </a:endParaRPr>
          </a:p>
        </p:txBody>
      </p:sp>
      <p:sp>
        <p:nvSpPr>
          <p:cNvPr id="103431" name="Google Shape;804;p74">
            <a:extLst>
              <a:ext uri="{FF2B5EF4-FFF2-40B4-BE49-F238E27FC236}">
                <a16:creationId xmlns:a16="http://schemas.microsoft.com/office/drawing/2014/main" id="{AAA612D3-E939-3634-59A0-7BD0FF4A2DA9}"/>
              </a:ext>
            </a:extLst>
          </p:cNvPr>
          <p:cNvSpPr txBox="1">
            <a:spLocks noGrp="1" noChangeArrowheads="1"/>
          </p:cNvSpPr>
          <p:nvPr>
            <p:ph type="title" idx="4"/>
          </p:nvPr>
        </p:nvSpPr>
        <p:spPr>
          <a:xfrm>
            <a:off x="1597423" y="3037908"/>
            <a:ext cx="2831703" cy="1008662"/>
          </a:xfrm>
        </p:spPr>
        <p:txBody>
          <a:bodyPr/>
          <a:lstStyle/>
          <a:p>
            <a: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Phase 3: </a:t>
            </a:r>
            <a:b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</a:b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Competitor Benchmarking</a:t>
            </a:r>
          </a:p>
        </p:txBody>
      </p:sp>
      <p:sp>
        <p:nvSpPr>
          <p:cNvPr id="103432" name="Google Shape;805;p74">
            <a:extLst>
              <a:ext uri="{FF2B5EF4-FFF2-40B4-BE49-F238E27FC236}">
                <a16:creationId xmlns:a16="http://schemas.microsoft.com/office/drawing/2014/main" id="{57A800D3-3DA5-BE9F-ADE8-74873E11A946}"/>
              </a:ext>
            </a:extLst>
          </p:cNvPr>
          <p:cNvSpPr txBox="1">
            <a:spLocks noGrp="1" noChangeArrowheads="1"/>
          </p:cNvSpPr>
          <p:nvPr>
            <p:ph type="title" idx="5"/>
          </p:nvPr>
        </p:nvSpPr>
        <p:spPr>
          <a:xfrm>
            <a:off x="5570234" y="3581665"/>
            <a:ext cx="3251114" cy="465430"/>
          </a:xfrm>
        </p:spPr>
        <p:txBody>
          <a:bodyPr/>
          <a:lstStyle/>
          <a:p>
            <a: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Phase 4: </a:t>
            </a:r>
            <a:br>
              <a:rPr lang="en-US" sz="2000" b="1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</a:br>
            <a:r>
              <a:rPr lang="en-US" sz="20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City Selection Framework</a:t>
            </a:r>
          </a:p>
        </p:txBody>
      </p:sp>
      <p:cxnSp>
        <p:nvCxnSpPr>
          <p:cNvPr id="103435" name="Google Shape;808;p74">
            <a:extLst>
              <a:ext uri="{FF2B5EF4-FFF2-40B4-BE49-F238E27FC236}">
                <a16:creationId xmlns:a16="http://schemas.microsoft.com/office/drawing/2014/main" id="{6DF9F53B-4041-965A-AB6D-052C401C33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11738" y="769938"/>
            <a:ext cx="3419475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436" name="Google Shape;809;p74">
            <a:extLst>
              <a:ext uri="{FF2B5EF4-FFF2-40B4-BE49-F238E27FC236}">
                <a16:creationId xmlns:a16="http://schemas.microsoft.com/office/drawing/2014/main" id="{3F9401C7-07CA-8605-A958-9C7A6E0D5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922" y="1399918"/>
            <a:ext cx="750887" cy="749300"/>
          </a:xfrm>
          <a:prstGeom prst="rect">
            <a:avLst/>
          </a:prstGeom>
          <a:noFill/>
          <a:ln w="9525">
            <a:solidFill>
              <a:srgbClr val="003B7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03437" name="Google Shape;810;p74">
            <a:extLst>
              <a:ext uri="{FF2B5EF4-FFF2-40B4-BE49-F238E27FC236}">
                <a16:creationId xmlns:a16="http://schemas.microsoft.com/office/drawing/2014/main" id="{9980079E-15DF-979A-072B-5D621CEA7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097" y="3211685"/>
            <a:ext cx="749300" cy="749300"/>
          </a:xfrm>
          <a:prstGeom prst="rect">
            <a:avLst/>
          </a:prstGeom>
          <a:noFill/>
          <a:ln w="9525">
            <a:solidFill>
              <a:srgbClr val="003B7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03438" name="Google Shape;811;p74">
            <a:extLst>
              <a:ext uri="{FF2B5EF4-FFF2-40B4-BE49-F238E27FC236}">
                <a16:creationId xmlns:a16="http://schemas.microsoft.com/office/drawing/2014/main" id="{562C7E88-90BF-99E9-22C2-3B49A5137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9" y="1376105"/>
            <a:ext cx="749300" cy="749300"/>
          </a:xfrm>
          <a:prstGeom prst="rect">
            <a:avLst/>
          </a:prstGeom>
          <a:noFill/>
          <a:ln w="9525">
            <a:solidFill>
              <a:srgbClr val="003B7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03439" name="Google Shape;812;p74">
            <a:extLst>
              <a:ext uri="{FF2B5EF4-FFF2-40B4-BE49-F238E27FC236}">
                <a16:creationId xmlns:a16="http://schemas.microsoft.com/office/drawing/2014/main" id="{9E76D527-197D-0009-D936-E58A347BE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3194222"/>
            <a:ext cx="749300" cy="749300"/>
          </a:xfrm>
          <a:prstGeom prst="rect">
            <a:avLst/>
          </a:prstGeom>
          <a:noFill/>
          <a:ln w="9525">
            <a:solidFill>
              <a:srgbClr val="003B7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pic>
        <p:nvPicPr>
          <p:cNvPr id="5" name="Picture 4" descr="A clipboard with check marks and a pen&#10;&#10;Description automatically generated">
            <a:extLst>
              <a:ext uri="{FF2B5EF4-FFF2-40B4-BE49-F238E27FC236}">
                <a16:creationId xmlns:a16="http://schemas.microsoft.com/office/drawing/2014/main" id="{C8A6B027-AA45-1ACA-7085-84E49DD5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59" y="1465109"/>
            <a:ext cx="576023" cy="576023"/>
          </a:xfrm>
          <a:prstGeom prst="rect">
            <a:avLst/>
          </a:prstGeom>
        </p:spPr>
      </p:pic>
      <p:pic>
        <p:nvPicPr>
          <p:cNvPr id="15" name="Picture 14" descr="A magnifying glass and a pie chart&#10;&#10;Description automatically generated">
            <a:extLst>
              <a:ext uri="{FF2B5EF4-FFF2-40B4-BE49-F238E27FC236}">
                <a16:creationId xmlns:a16="http://schemas.microsoft.com/office/drawing/2014/main" id="{5E491CB3-4F71-309A-4461-AEEADBB75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183" y="1494872"/>
            <a:ext cx="631140" cy="590406"/>
          </a:xfrm>
          <a:prstGeom prst="rect">
            <a:avLst/>
          </a:prstGeom>
        </p:spPr>
      </p:pic>
      <p:pic>
        <p:nvPicPr>
          <p:cNvPr id="17" name="Picture 16" descr="A graph with a magnifying glass and people&#10;&#10;Description automatically generated">
            <a:extLst>
              <a:ext uri="{FF2B5EF4-FFF2-40B4-BE49-F238E27FC236}">
                <a16:creationId xmlns:a16="http://schemas.microsoft.com/office/drawing/2014/main" id="{D2AA42F3-A2D1-56DA-B924-082CCF2EA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44" y="3194596"/>
            <a:ext cx="722910" cy="718228"/>
          </a:xfrm>
          <a:prstGeom prst="rect">
            <a:avLst/>
          </a:prstGeom>
        </p:spPr>
      </p:pic>
      <p:grpSp>
        <p:nvGrpSpPr>
          <p:cNvPr id="22" name="Google Shape;1371;p105">
            <a:extLst>
              <a:ext uri="{FF2B5EF4-FFF2-40B4-BE49-F238E27FC236}">
                <a16:creationId xmlns:a16="http://schemas.microsoft.com/office/drawing/2014/main" id="{C012DA2B-761C-E017-F51C-E36A9AC272B9}"/>
              </a:ext>
            </a:extLst>
          </p:cNvPr>
          <p:cNvGrpSpPr>
            <a:grpSpLocks/>
          </p:cNvGrpSpPr>
          <p:nvPr/>
        </p:nvGrpSpPr>
        <p:grpSpPr bwMode="auto">
          <a:xfrm>
            <a:off x="4781650" y="3412105"/>
            <a:ext cx="634208" cy="394494"/>
            <a:chOff x="3963652" y="1999759"/>
            <a:chExt cx="374155" cy="284051"/>
          </a:xfrm>
        </p:grpSpPr>
        <p:sp>
          <p:nvSpPr>
            <p:cNvPr id="19" name="Google Shape;1372;p105">
              <a:extLst>
                <a:ext uri="{FF2B5EF4-FFF2-40B4-BE49-F238E27FC236}">
                  <a16:creationId xmlns:a16="http://schemas.microsoft.com/office/drawing/2014/main" id="{594C4890-55B5-177A-52D3-5E574F9BC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441" y="2104652"/>
              <a:ext cx="214366" cy="179158"/>
            </a:xfrm>
            <a:custGeom>
              <a:avLst/>
              <a:gdLst>
                <a:gd name="T0" fmla="*/ 6573 w 6740"/>
                <a:gd name="T1" fmla="*/ 1 h 5633"/>
                <a:gd name="T2" fmla="*/ 6395 w 6740"/>
                <a:gd name="T3" fmla="*/ 179 h 5633"/>
                <a:gd name="T4" fmla="*/ 6395 w 6740"/>
                <a:gd name="T5" fmla="*/ 5275 h 5633"/>
                <a:gd name="T6" fmla="*/ 180 w 6740"/>
                <a:gd name="T7" fmla="*/ 5275 h 5633"/>
                <a:gd name="T8" fmla="*/ 1 w 6740"/>
                <a:gd name="T9" fmla="*/ 5454 h 5633"/>
                <a:gd name="T10" fmla="*/ 180 w 6740"/>
                <a:gd name="T11" fmla="*/ 5632 h 5633"/>
                <a:gd name="T12" fmla="*/ 6561 w 6740"/>
                <a:gd name="T13" fmla="*/ 5632 h 5633"/>
                <a:gd name="T14" fmla="*/ 6740 w 6740"/>
                <a:gd name="T15" fmla="*/ 5454 h 5633"/>
                <a:gd name="T16" fmla="*/ 6740 w 6740"/>
                <a:gd name="T17" fmla="*/ 179 h 5633"/>
                <a:gd name="T18" fmla="*/ 6573 w 6740"/>
                <a:gd name="T19" fmla="*/ 1 h 5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740" h="5633" extrusionOk="0">
                  <a:moveTo>
                    <a:pt x="6573" y="1"/>
                  </a:moveTo>
                  <a:cubicBezTo>
                    <a:pt x="6490" y="1"/>
                    <a:pt x="6395" y="84"/>
                    <a:pt x="6395" y="179"/>
                  </a:cubicBezTo>
                  <a:lnTo>
                    <a:pt x="6395" y="5275"/>
                  </a:lnTo>
                  <a:lnTo>
                    <a:pt x="180" y="5275"/>
                  </a:lnTo>
                  <a:cubicBezTo>
                    <a:pt x="84" y="5275"/>
                    <a:pt x="1" y="5346"/>
                    <a:pt x="1" y="5454"/>
                  </a:cubicBezTo>
                  <a:cubicBezTo>
                    <a:pt x="1" y="5549"/>
                    <a:pt x="72" y="5632"/>
                    <a:pt x="180" y="5632"/>
                  </a:cubicBezTo>
                  <a:lnTo>
                    <a:pt x="6561" y="5632"/>
                  </a:lnTo>
                  <a:cubicBezTo>
                    <a:pt x="6645" y="5632"/>
                    <a:pt x="6740" y="5549"/>
                    <a:pt x="6740" y="5454"/>
                  </a:cubicBezTo>
                  <a:lnTo>
                    <a:pt x="6740" y="179"/>
                  </a:lnTo>
                  <a:cubicBezTo>
                    <a:pt x="6740" y="84"/>
                    <a:pt x="6668" y="1"/>
                    <a:pt x="6573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20" name="Google Shape;1373;p105">
              <a:extLst>
                <a:ext uri="{FF2B5EF4-FFF2-40B4-BE49-F238E27FC236}">
                  <a16:creationId xmlns:a16="http://schemas.microsoft.com/office/drawing/2014/main" id="{A6C08466-E0E1-D5F3-012D-EBE6292D9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652" y="1999759"/>
              <a:ext cx="374154" cy="283669"/>
            </a:xfrm>
            <a:custGeom>
              <a:avLst/>
              <a:gdLst>
                <a:gd name="T0" fmla="*/ 1036 w 11764"/>
                <a:gd name="T1" fmla="*/ 1 h 8919"/>
                <a:gd name="T2" fmla="*/ 0 w 11764"/>
                <a:gd name="T3" fmla="*/ 1024 h 8919"/>
                <a:gd name="T4" fmla="*/ 0 w 11764"/>
                <a:gd name="T5" fmla="*/ 7847 h 8919"/>
                <a:gd name="T6" fmla="*/ 1072 w 11764"/>
                <a:gd name="T7" fmla="*/ 8918 h 8919"/>
                <a:gd name="T8" fmla="*/ 4513 w 11764"/>
                <a:gd name="T9" fmla="*/ 8918 h 8919"/>
                <a:gd name="T10" fmla="*/ 4692 w 11764"/>
                <a:gd name="T11" fmla="*/ 8740 h 8919"/>
                <a:gd name="T12" fmla="*/ 4513 w 11764"/>
                <a:gd name="T13" fmla="*/ 8561 h 8919"/>
                <a:gd name="T14" fmla="*/ 1072 w 11764"/>
                <a:gd name="T15" fmla="*/ 8561 h 8919"/>
                <a:gd name="T16" fmla="*/ 358 w 11764"/>
                <a:gd name="T17" fmla="*/ 7847 h 8919"/>
                <a:gd name="T18" fmla="*/ 358 w 11764"/>
                <a:gd name="T19" fmla="*/ 7799 h 8919"/>
                <a:gd name="T20" fmla="*/ 358 w 11764"/>
                <a:gd name="T21" fmla="*/ 7763 h 8919"/>
                <a:gd name="T22" fmla="*/ 1036 w 11764"/>
                <a:gd name="T23" fmla="*/ 7168 h 8919"/>
                <a:gd name="T24" fmla="*/ 1358 w 11764"/>
                <a:gd name="T25" fmla="*/ 7168 h 8919"/>
                <a:gd name="T26" fmla="*/ 1536 w 11764"/>
                <a:gd name="T27" fmla="*/ 6990 h 8919"/>
                <a:gd name="T28" fmla="*/ 1358 w 11764"/>
                <a:gd name="T29" fmla="*/ 6811 h 8919"/>
                <a:gd name="T30" fmla="*/ 1278 w 11764"/>
                <a:gd name="T31" fmla="*/ 6815 h 8919"/>
                <a:gd name="T32" fmla="*/ 1116 w 11764"/>
                <a:gd name="T33" fmla="*/ 6813 h 8919"/>
                <a:gd name="T34" fmla="*/ 346 w 11764"/>
                <a:gd name="T35" fmla="*/ 7073 h 8919"/>
                <a:gd name="T36" fmla="*/ 346 w 11764"/>
                <a:gd name="T37" fmla="*/ 1013 h 8919"/>
                <a:gd name="T38" fmla="*/ 1036 w 11764"/>
                <a:gd name="T39" fmla="*/ 322 h 8919"/>
                <a:gd name="T40" fmla="*/ 2465 w 11764"/>
                <a:gd name="T41" fmla="*/ 322 h 8919"/>
                <a:gd name="T42" fmla="*/ 2465 w 11764"/>
                <a:gd name="T43" fmla="*/ 6811 h 8919"/>
                <a:gd name="T44" fmla="*/ 2048 w 11764"/>
                <a:gd name="T45" fmla="*/ 6811 h 8919"/>
                <a:gd name="T46" fmla="*/ 1870 w 11764"/>
                <a:gd name="T47" fmla="*/ 6990 h 8919"/>
                <a:gd name="T48" fmla="*/ 2048 w 11764"/>
                <a:gd name="T49" fmla="*/ 7168 h 8919"/>
                <a:gd name="T50" fmla="*/ 2620 w 11764"/>
                <a:gd name="T51" fmla="*/ 7168 h 8919"/>
                <a:gd name="T52" fmla="*/ 2798 w 11764"/>
                <a:gd name="T53" fmla="*/ 6990 h 8919"/>
                <a:gd name="T54" fmla="*/ 2798 w 11764"/>
                <a:gd name="T55" fmla="*/ 1191 h 8919"/>
                <a:gd name="T56" fmla="*/ 11407 w 11764"/>
                <a:gd name="T57" fmla="*/ 1191 h 8919"/>
                <a:gd name="T58" fmla="*/ 11407 w 11764"/>
                <a:gd name="T59" fmla="*/ 2763 h 8919"/>
                <a:gd name="T60" fmla="*/ 11585 w 11764"/>
                <a:gd name="T61" fmla="*/ 2941 h 8919"/>
                <a:gd name="T62" fmla="*/ 11764 w 11764"/>
                <a:gd name="T63" fmla="*/ 2763 h 8919"/>
                <a:gd name="T64" fmla="*/ 11764 w 11764"/>
                <a:gd name="T65" fmla="*/ 1024 h 8919"/>
                <a:gd name="T66" fmla="*/ 11597 w 11764"/>
                <a:gd name="T67" fmla="*/ 858 h 8919"/>
                <a:gd name="T68" fmla="*/ 2822 w 11764"/>
                <a:gd name="T69" fmla="*/ 858 h 8919"/>
                <a:gd name="T70" fmla="*/ 2822 w 11764"/>
                <a:gd name="T71" fmla="*/ 179 h 8919"/>
                <a:gd name="T72" fmla="*/ 2644 w 11764"/>
                <a:gd name="T73" fmla="*/ 1 h 8919"/>
                <a:gd name="T74" fmla="*/ 1036 w 11764"/>
                <a:gd name="T75" fmla="*/ 1 h 8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64" h="8919" extrusionOk="0">
                  <a:moveTo>
                    <a:pt x="1036" y="1"/>
                  </a:moveTo>
                  <a:cubicBezTo>
                    <a:pt x="465" y="1"/>
                    <a:pt x="0" y="465"/>
                    <a:pt x="0" y="1024"/>
                  </a:cubicBezTo>
                  <a:lnTo>
                    <a:pt x="0" y="7847"/>
                  </a:lnTo>
                  <a:cubicBezTo>
                    <a:pt x="0" y="8418"/>
                    <a:pt x="477" y="8918"/>
                    <a:pt x="1072" y="8918"/>
                  </a:cubicBezTo>
                  <a:lnTo>
                    <a:pt x="4513" y="8918"/>
                  </a:lnTo>
                  <a:cubicBezTo>
                    <a:pt x="4608" y="8918"/>
                    <a:pt x="4692" y="8835"/>
                    <a:pt x="4692" y="8740"/>
                  </a:cubicBezTo>
                  <a:cubicBezTo>
                    <a:pt x="4692" y="8644"/>
                    <a:pt x="4620" y="8561"/>
                    <a:pt x="4513" y="8561"/>
                  </a:cubicBezTo>
                  <a:lnTo>
                    <a:pt x="1072" y="8561"/>
                  </a:lnTo>
                  <a:cubicBezTo>
                    <a:pt x="679" y="8561"/>
                    <a:pt x="358" y="8228"/>
                    <a:pt x="358" y="7847"/>
                  </a:cubicBezTo>
                  <a:lnTo>
                    <a:pt x="358" y="7799"/>
                  </a:lnTo>
                  <a:lnTo>
                    <a:pt x="358" y="7763"/>
                  </a:lnTo>
                  <a:cubicBezTo>
                    <a:pt x="405" y="7430"/>
                    <a:pt x="691" y="7168"/>
                    <a:pt x="1036" y="7168"/>
                  </a:cubicBezTo>
                  <a:lnTo>
                    <a:pt x="1358" y="7168"/>
                  </a:lnTo>
                  <a:cubicBezTo>
                    <a:pt x="1453" y="7168"/>
                    <a:pt x="1536" y="7097"/>
                    <a:pt x="1536" y="6990"/>
                  </a:cubicBezTo>
                  <a:cubicBezTo>
                    <a:pt x="1536" y="6906"/>
                    <a:pt x="1465" y="6811"/>
                    <a:pt x="1358" y="6811"/>
                  </a:cubicBezTo>
                  <a:cubicBezTo>
                    <a:pt x="1335" y="6814"/>
                    <a:pt x="1309" y="6815"/>
                    <a:pt x="1278" y="6815"/>
                  </a:cubicBezTo>
                  <a:cubicBezTo>
                    <a:pt x="1232" y="6815"/>
                    <a:pt x="1177" y="6813"/>
                    <a:pt x="1116" y="6813"/>
                  </a:cubicBezTo>
                  <a:cubicBezTo>
                    <a:pt x="905" y="6813"/>
                    <a:pt x="620" y="6839"/>
                    <a:pt x="346" y="7073"/>
                  </a:cubicBezTo>
                  <a:lnTo>
                    <a:pt x="346" y="1013"/>
                  </a:lnTo>
                  <a:cubicBezTo>
                    <a:pt x="346" y="643"/>
                    <a:pt x="655" y="322"/>
                    <a:pt x="1036" y="322"/>
                  </a:cubicBezTo>
                  <a:lnTo>
                    <a:pt x="2465" y="322"/>
                  </a:lnTo>
                  <a:lnTo>
                    <a:pt x="2465" y="6811"/>
                  </a:lnTo>
                  <a:lnTo>
                    <a:pt x="2048" y="6811"/>
                  </a:lnTo>
                  <a:cubicBezTo>
                    <a:pt x="1953" y="6811"/>
                    <a:pt x="1870" y="6894"/>
                    <a:pt x="1870" y="6990"/>
                  </a:cubicBezTo>
                  <a:cubicBezTo>
                    <a:pt x="1870" y="7085"/>
                    <a:pt x="1941" y="7168"/>
                    <a:pt x="2048" y="7168"/>
                  </a:cubicBezTo>
                  <a:lnTo>
                    <a:pt x="2620" y="7168"/>
                  </a:lnTo>
                  <a:cubicBezTo>
                    <a:pt x="2715" y="7168"/>
                    <a:pt x="2798" y="7097"/>
                    <a:pt x="2798" y="6990"/>
                  </a:cubicBezTo>
                  <a:lnTo>
                    <a:pt x="2798" y="1191"/>
                  </a:lnTo>
                  <a:lnTo>
                    <a:pt x="11407" y="1191"/>
                  </a:lnTo>
                  <a:lnTo>
                    <a:pt x="11407" y="2763"/>
                  </a:lnTo>
                  <a:cubicBezTo>
                    <a:pt x="11407" y="2858"/>
                    <a:pt x="11478" y="2941"/>
                    <a:pt x="11585" y="2941"/>
                  </a:cubicBezTo>
                  <a:cubicBezTo>
                    <a:pt x="11669" y="2941"/>
                    <a:pt x="11764" y="2870"/>
                    <a:pt x="11764" y="2763"/>
                  </a:cubicBezTo>
                  <a:lnTo>
                    <a:pt x="11764" y="1024"/>
                  </a:lnTo>
                  <a:cubicBezTo>
                    <a:pt x="11764" y="941"/>
                    <a:pt x="11692" y="858"/>
                    <a:pt x="11597" y="858"/>
                  </a:cubicBezTo>
                  <a:lnTo>
                    <a:pt x="2822" y="858"/>
                  </a:lnTo>
                  <a:lnTo>
                    <a:pt x="2822" y="179"/>
                  </a:lnTo>
                  <a:cubicBezTo>
                    <a:pt x="2822" y="84"/>
                    <a:pt x="2739" y="1"/>
                    <a:pt x="2644" y="1"/>
                  </a:cubicBezTo>
                  <a:lnTo>
                    <a:pt x="1036" y="1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  <p:sp>
          <p:nvSpPr>
            <p:cNvPr id="21" name="Google Shape;1374;p105">
              <a:extLst>
                <a:ext uri="{FF2B5EF4-FFF2-40B4-BE49-F238E27FC236}">
                  <a16:creationId xmlns:a16="http://schemas.microsoft.com/office/drawing/2014/main" id="{93678C0C-D683-5FE1-2379-D70B39B2B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309" y="2061874"/>
              <a:ext cx="234435" cy="182911"/>
            </a:xfrm>
            <a:custGeom>
              <a:avLst/>
              <a:gdLst>
                <a:gd name="T0" fmla="*/ 5477 w 7371"/>
                <a:gd name="T1" fmla="*/ 357 h 5751"/>
                <a:gd name="T2" fmla="*/ 5477 w 7371"/>
                <a:gd name="T3" fmla="*/ 1631 h 5751"/>
                <a:gd name="T4" fmla="*/ 3013 w 7371"/>
                <a:gd name="T5" fmla="*/ 1631 h 5751"/>
                <a:gd name="T6" fmla="*/ 3013 w 7371"/>
                <a:gd name="T7" fmla="*/ 357 h 5751"/>
                <a:gd name="T8" fmla="*/ 5477 w 7371"/>
                <a:gd name="T9" fmla="*/ 357 h 5751"/>
                <a:gd name="T10" fmla="*/ 2667 w 7371"/>
                <a:gd name="T11" fmla="*/ 3036 h 5751"/>
                <a:gd name="T12" fmla="*/ 2667 w 7371"/>
                <a:gd name="T13" fmla="*/ 5394 h 5751"/>
                <a:gd name="T14" fmla="*/ 1643 w 7371"/>
                <a:gd name="T15" fmla="*/ 5394 h 5751"/>
                <a:gd name="T16" fmla="*/ 358 w 7371"/>
                <a:gd name="T17" fmla="*/ 4120 h 5751"/>
                <a:gd name="T18" fmla="*/ 358 w 7371"/>
                <a:gd name="T19" fmla="*/ 3036 h 5751"/>
                <a:gd name="T20" fmla="*/ 2667 w 7371"/>
                <a:gd name="T21" fmla="*/ 3036 h 5751"/>
                <a:gd name="T22" fmla="*/ 7013 w 7371"/>
                <a:gd name="T23" fmla="*/ 334 h 5751"/>
                <a:gd name="T24" fmla="*/ 7013 w 7371"/>
                <a:gd name="T25" fmla="*/ 5394 h 5751"/>
                <a:gd name="T26" fmla="*/ 3013 w 7371"/>
                <a:gd name="T27" fmla="*/ 5394 h 5751"/>
                <a:gd name="T28" fmla="*/ 3013 w 7371"/>
                <a:gd name="T29" fmla="*/ 1977 h 5751"/>
                <a:gd name="T30" fmla="*/ 5656 w 7371"/>
                <a:gd name="T31" fmla="*/ 1977 h 5751"/>
                <a:gd name="T32" fmla="*/ 5834 w 7371"/>
                <a:gd name="T33" fmla="*/ 1798 h 5751"/>
                <a:gd name="T34" fmla="*/ 5834 w 7371"/>
                <a:gd name="T35" fmla="*/ 334 h 5751"/>
                <a:gd name="T36" fmla="*/ 7013 w 7371"/>
                <a:gd name="T37" fmla="*/ 334 h 5751"/>
                <a:gd name="T38" fmla="*/ 179 w 7371"/>
                <a:gd name="T39" fmla="*/ 0 h 5751"/>
                <a:gd name="T40" fmla="*/ 0 w 7371"/>
                <a:gd name="T41" fmla="*/ 179 h 5751"/>
                <a:gd name="T42" fmla="*/ 0 w 7371"/>
                <a:gd name="T43" fmla="*/ 4120 h 5751"/>
                <a:gd name="T44" fmla="*/ 1643 w 7371"/>
                <a:gd name="T45" fmla="*/ 5751 h 5751"/>
                <a:gd name="T46" fmla="*/ 7192 w 7371"/>
                <a:gd name="T47" fmla="*/ 5751 h 5751"/>
                <a:gd name="T48" fmla="*/ 7370 w 7371"/>
                <a:gd name="T49" fmla="*/ 5572 h 5751"/>
                <a:gd name="T50" fmla="*/ 7370 w 7371"/>
                <a:gd name="T51" fmla="*/ 179 h 5751"/>
                <a:gd name="T52" fmla="*/ 7192 w 7371"/>
                <a:gd name="T53" fmla="*/ 0 h 5751"/>
                <a:gd name="T54" fmla="*/ 2024 w 7371"/>
                <a:gd name="T55" fmla="*/ 0 h 5751"/>
                <a:gd name="T56" fmla="*/ 1846 w 7371"/>
                <a:gd name="T57" fmla="*/ 179 h 5751"/>
                <a:gd name="T58" fmla="*/ 2024 w 7371"/>
                <a:gd name="T59" fmla="*/ 357 h 5751"/>
                <a:gd name="T60" fmla="*/ 2667 w 7371"/>
                <a:gd name="T61" fmla="*/ 357 h 5751"/>
                <a:gd name="T62" fmla="*/ 2667 w 7371"/>
                <a:gd name="T63" fmla="*/ 2691 h 5751"/>
                <a:gd name="T64" fmla="*/ 358 w 7371"/>
                <a:gd name="T65" fmla="*/ 2691 h 5751"/>
                <a:gd name="T66" fmla="*/ 358 w 7371"/>
                <a:gd name="T67" fmla="*/ 357 h 5751"/>
                <a:gd name="T68" fmla="*/ 1322 w 7371"/>
                <a:gd name="T69" fmla="*/ 357 h 5751"/>
                <a:gd name="T70" fmla="*/ 1501 w 7371"/>
                <a:gd name="T71" fmla="*/ 179 h 5751"/>
                <a:gd name="T72" fmla="*/ 1322 w 7371"/>
                <a:gd name="T73" fmla="*/ 0 h 5751"/>
                <a:gd name="T74" fmla="*/ 179 w 7371"/>
                <a:gd name="T75" fmla="*/ 0 h 5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371" h="5751" extrusionOk="0">
                  <a:moveTo>
                    <a:pt x="5477" y="357"/>
                  </a:moveTo>
                  <a:lnTo>
                    <a:pt x="5477" y="1631"/>
                  </a:lnTo>
                  <a:lnTo>
                    <a:pt x="3013" y="1631"/>
                  </a:lnTo>
                  <a:lnTo>
                    <a:pt x="3013" y="357"/>
                  </a:lnTo>
                  <a:lnTo>
                    <a:pt x="5477" y="357"/>
                  </a:lnTo>
                  <a:close/>
                  <a:moveTo>
                    <a:pt x="2667" y="3036"/>
                  </a:moveTo>
                  <a:lnTo>
                    <a:pt x="2667" y="5394"/>
                  </a:lnTo>
                  <a:lnTo>
                    <a:pt x="1643" y="5394"/>
                  </a:lnTo>
                  <a:cubicBezTo>
                    <a:pt x="929" y="5394"/>
                    <a:pt x="358" y="4822"/>
                    <a:pt x="358" y="4120"/>
                  </a:cubicBezTo>
                  <a:lnTo>
                    <a:pt x="358" y="3036"/>
                  </a:lnTo>
                  <a:lnTo>
                    <a:pt x="2667" y="3036"/>
                  </a:lnTo>
                  <a:close/>
                  <a:moveTo>
                    <a:pt x="7013" y="334"/>
                  </a:moveTo>
                  <a:lnTo>
                    <a:pt x="7013" y="5394"/>
                  </a:lnTo>
                  <a:lnTo>
                    <a:pt x="3013" y="5394"/>
                  </a:lnTo>
                  <a:lnTo>
                    <a:pt x="3013" y="1977"/>
                  </a:lnTo>
                  <a:lnTo>
                    <a:pt x="5656" y="1977"/>
                  </a:lnTo>
                  <a:cubicBezTo>
                    <a:pt x="5751" y="1977"/>
                    <a:pt x="5834" y="1905"/>
                    <a:pt x="5834" y="1798"/>
                  </a:cubicBezTo>
                  <a:lnTo>
                    <a:pt x="5834" y="334"/>
                  </a:lnTo>
                  <a:lnTo>
                    <a:pt x="7013" y="334"/>
                  </a:lnTo>
                  <a:close/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lnTo>
                    <a:pt x="0" y="4120"/>
                  </a:lnTo>
                  <a:cubicBezTo>
                    <a:pt x="0" y="5025"/>
                    <a:pt x="727" y="5751"/>
                    <a:pt x="1643" y="5751"/>
                  </a:cubicBezTo>
                  <a:lnTo>
                    <a:pt x="7192" y="5751"/>
                  </a:lnTo>
                  <a:cubicBezTo>
                    <a:pt x="7275" y="5751"/>
                    <a:pt x="7370" y="5679"/>
                    <a:pt x="7370" y="5572"/>
                  </a:cubicBezTo>
                  <a:lnTo>
                    <a:pt x="7370" y="179"/>
                  </a:lnTo>
                  <a:cubicBezTo>
                    <a:pt x="7358" y="72"/>
                    <a:pt x="7275" y="0"/>
                    <a:pt x="7192" y="0"/>
                  </a:cubicBezTo>
                  <a:lnTo>
                    <a:pt x="2024" y="0"/>
                  </a:lnTo>
                  <a:cubicBezTo>
                    <a:pt x="1941" y="0"/>
                    <a:pt x="1846" y="72"/>
                    <a:pt x="1846" y="179"/>
                  </a:cubicBezTo>
                  <a:cubicBezTo>
                    <a:pt x="1846" y="262"/>
                    <a:pt x="1917" y="357"/>
                    <a:pt x="2024" y="357"/>
                  </a:cubicBezTo>
                  <a:lnTo>
                    <a:pt x="2667" y="357"/>
                  </a:lnTo>
                  <a:lnTo>
                    <a:pt x="2667" y="2691"/>
                  </a:lnTo>
                  <a:lnTo>
                    <a:pt x="358" y="2691"/>
                  </a:lnTo>
                  <a:lnTo>
                    <a:pt x="358" y="357"/>
                  </a:lnTo>
                  <a:lnTo>
                    <a:pt x="1322" y="357"/>
                  </a:lnTo>
                  <a:cubicBezTo>
                    <a:pt x="1417" y="357"/>
                    <a:pt x="1501" y="274"/>
                    <a:pt x="1501" y="179"/>
                  </a:cubicBezTo>
                  <a:cubicBezTo>
                    <a:pt x="1501" y="84"/>
                    <a:pt x="1429" y="0"/>
                    <a:pt x="1322" y="0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lIns="91425" tIns="91425" rIns="91425" bIns="91425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5632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768;p71">
            <a:extLst>
              <a:ext uri="{FF2B5EF4-FFF2-40B4-BE49-F238E27FC236}">
                <a16:creationId xmlns:a16="http://schemas.microsoft.com/office/drawing/2014/main" id="{C01FACAE-0867-1F81-86D1-52B990B0422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13918" y="1813663"/>
            <a:ext cx="4000285" cy="13077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3B71"/>
                </a:solidFill>
                <a:cs typeface="Arial"/>
                <a:sym typeface="Lora" pitchFamily="2" charset="0"/>
              </a:rPr>
              <a:t>MARKET ANALYSIS</a:t>
            </a:r>
            <a:endParaRPr lang="en-US" dirty="0">
              <a:cs typeface="Arial"/>
            </a:endParaRPr>
          </a:p>
        </p:txBody>
      </p:sp>
      <p:sp>
        <p:nvSpPr>
          <p:cNvPr id="97283" name="Google Shape;769;p71">
            <a:extLst>
              <a:ext uri="{FF2B5EF4-FFF2-40B4-BE49-F238E27FC236}">
                <a16:creationId xmlns:a16="http://schemas.microsoft.com/office/drawing/2014/main" id="{3789675F-CCE0-E871-404B-689FEE7BA7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77729" y="1832874"/>
            <a:ext cx="1342223" cy="1265630"/>
          </a:xfrm>
          <a:ln>
            <a:noFill/>
          </a:ln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dirty="0">
                <a:solidFill>
                  <a:srgbClr val="003B71"/>
                </a:solidFill>
                <a:cs typeface="Arial"/>
                <a:sym typeface="DM Sans" pitchFamily="2" charset="0"/>
              </a:rPr>
              <a:t>02</a:t>
            </a:r>
            <a:endParaRPr lang="en-US" altLang="en-US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  <a:sym typeface="DM Sans" pitchFamily="2" charset="0"/>
            </a:endParaRPr>
          </a:p>
        </p:txBody>
      </p:sp>
      <p:cxnSp>
        <p:nvCxnSpPr>
          <p:cNvPr id="97285" name="Google Shape;771;p71">
            <a:extLst>
              <a:ext uri="{FF2B5EF4-FFF2-40B4-BE49-F238E27FC236}">
                <a16:creationId xmlns:a16="http://schemas.microsoft.com/office/drawing/2014/main" id="{57DF5652-1EB7-DAA8-0BC7-7808E79CA8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86" name="Google Shape;772;p71">
            <a:extLst>
              <a:ext uri="{FF2B5EF4-FFF2-40B4-BE49-F238E27FC236}">
                <a16:creationId xmlns:a16="http://schemas.microsoft.com/office/drawing/2014/main" id="{4B594F3E-3B73-6D4A-2E25-DB26F165C6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5099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UNDERSTANDING THE MARKET LANDSCAPE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4886" y="1403565"/>
            <a:ext cx="6786091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sym typeface="DM Sans" pitchFamily="2" charset="0"/>
              </a:rPr>
              <a:t>Objective:</a:t>
            </a:r>
            <a:endParaRPr lang="en-US" altLang="en-US" sz="16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altLang="en-US" sz="1600" dirty="0">
                <a:solidFill>
                  <a:srgbClr val="003B71"/>
                </a:solidFill>
                <a:latin typeface="Bookman Old Style" panose="02050604050505020204" pitchFamily="18" charset="0"/>
                <a:sym typeface="DM Sans" pitchFamily="2" charset="0"/>
              </a:rPr>
              <a:t>To identify high-growth markets with untapped potential for digital marketing services tailored to contractors.</a:t>
            </a:r>
            <a:endParaRPr lang="en-US" altLang="en-US" sz="1600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endParaRPr lang="en-US" altLang="en-US" sz="16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sym typeface="DM Sans" pitchFamily="2" charset="0"/>
              </a:rPr>
              <a:t>Process:</a:t>
            </a:r>
            <a:endParaRPr lang="en-US" altLang="en-US" sz="16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dirty="0">
                <a:solidFill>
                  <a:srgbClr val="003B71"/>
                </a:solidFill>
                <a:latin typeface="Bookman Old Style" panose="02050604050505020204" pitchFamily="18" charset="0"/>
                <a:sym typeface="DM Sans" pitchFamily="2" charset="0"/>
              </a:rPr>
              <a:t>Analyzed construction trends in 10 high-growth cities. Conducted qualitative interviews with contractors to uncover challenges and needs.</a:t>
            </a:r>
            <a:endParaRPr lang="en-US" altLang="en-US" sz="1600" dirty="0">
              <a:solidFill>
                <a:srgbClr val="003B7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 descr="Communication skills ">
            <a:extLst>
              <a:ext uri="{FF2B5EF4-FFF2-40B4-BE49-F238E27FC236}">
                <a16:creationId xmlns:a16="http://schemas.microsoft.com/office/drawing/2014/main" id="{00E40443-58A5-C066-ED71-CA5A41C25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65" y="2652069"/>
            <a:ext cx="436606" cy="410863"/>
          </a:xfrm>
          <a:prstGeom prst="rect">
            <a:avLst/>
          </a:prstGeom>
        </p:spPr>
      </p:pic>
      <p:pic>
        <p:nvPicPr>
          <p:cNvPr id="3" name="Picture 2" descr="Technical Support">
            <a:extLst>
              <a:ext uri="{FF2B5EF4-FFF2-40B4-BE49-F238E27FC236}">
                <a16:creationId xmlns:a16="http://schemas.microsoft.com/office/drawing/2014/main" id="{BDEA0307-6243-67EE-AD88-A02D019C5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08" y="1498772"/>
            <a:ext cx="390268" cy="36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1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106796"/>
            <a:ext cx="7702550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HOW WE IDENTIFIED OUR FOCUS CITIES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5298" y="681147"/>
            <a:ext cx="7702550" cy="4082565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sym typeface="DM Sans" pitchFamily="2" charset="0"/>
              </a:rPr>
              <a:t>Key Criteria for City Selection:</a:t>
            </a:r>
            <a:endParaRPr lang="en-US" altLang="en-US" sz="16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342900" indent="-34290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Population growth exceeding 120k.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342900" indent="-34290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High investment in new housing and commercial projects.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342900" indent="-34290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Economic vibrancy with rising household incomes.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endParaRPr lang="en-US" altLang="en-US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Top 10 Cities Identified: </a:t>
            </a: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Wilmington, NC; Austin, TX; Raleigh, NC; Boise, ID; Jacksonville, FL; Nashville, TN; Houston, TX; Phoenix, AZ; Atlanta, GA; New York City, NY.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endParaRPr lang="en-US" altLang="en-US" sz="16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sym typeface="DM Sans" pitchFamily="2" charset="0"/>
              </a:rPr>
              <a:t>Rationale for Raleigh &amp; Boise:</a:t>
            </a:r>
            <a:endParaRPr lang="en-US" altLang="en-US" sz="16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Raleigh: A tech-driven, moderate-budget market open to advanced digital strategies.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Boise: A rapidly growing, budget-conscious market relying heavily on referrals.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379B5-0CC7-29EB-DA59-BCA2D06D5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31" y="801129"/>
            <a:ext cx="452608" cy="484927"/>
          </a:xfrm>
          <a:prstGeom prst="rect">
            <a:avLst/>
          </a:prstGeom>
        </p:spPr>
      </p:pic>
      <p:pic>
        <p:nvPicPr>
          <p:cNvPr id="4" name="Picture 3" descr="Marketing ">
            <a:extLst>
              <a:ext uri="{FF2B5EF4-FFF2-40B4-BE49-F238E27FC236}">
                <a16:creationId xmlns:a16="http://schemas.microsoft.com/office/drawing/2014/main" id="{1729A5F7-3131-312B-5B06-D952AFAED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05" y="3089702"/>
            <a:ext cx="338771" cy="333633"/>
          </a:xfrm>
          <a:prstGeom prst="rect">
            <a:avLst/>
          </a:prstGeom>
        </p:spPr>
      </p:pic>
      <p:pic>
        <p:nvPicPr>
          <p:cNvPr id="5" name="Picture 4" descr="Consultant ">
            <a:extLst>
              <a:ext uri="{FF2B5EF4-FFF2-40B4-BE49-F238E27FC236}">
                <a16:creationId xmlns:a16="http://schemas.microsoft.com/office/drawing/2014/main" id="{5087E1C4-6C40-EDD2-1A16-F2DC6FCB2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16" y="2023934"/>
            <a:ext cx="421160" cy="4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2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PERSONALIZED INSIGHTS FROM CONTRACTORS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6671" y="1287140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Methodology: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One-on-one phone interviews with contractors.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Open-ended questions covering marketing practices, challenges, and priorities.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endParaRPr lang="en-US" altLang="en-US" sz="16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Focus on Quality Over Quantity:</a:t>
            </a:r>
            <a:endParaRPr lang="en-US" altLang="en-US" sz="1600" b="1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While the sample size was small, interviews provided in-depth, actionable insights.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Responses highlighted recurring themes and key pain points.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</p:txBody>
      </p:sp>
      <p:pic>
        <p:nvPicPr>
          <p:cNvPr id="4" name="Picture 3" descr="Consulting">
            <a:extLst>
              <a:ext uri="{FF2B5EF4-FFF2-40B4-BE49-F238E27FC236}">
                <a16:creationId xmlns:a16="http://schemas.microsoft.com/office/drawing/2014/main" id="{19C724A0-1308-FC8D-D00F-EC421BDCF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35" y="1400946"/>
            <a:ext cx="395417" cy="441755"/>
          </a:xfrm>
          <a:prstGeom prst="rect">
            <a:avLst/>
          </a:prstGeom>
        </p:spPr>
      </p:pic>
      <p:pic>
        <p:nvPicPr>
          <p:cNvPr id="5" name="Picture 4" descr="Consultation">
            <a:extLst>
              <a:ext uri="{FF2B5EF4-FFF2-40B4-BE49-F238E27FC236}">
                <a16:creationId xmlns:a16="http://schemas.microsoft.com/office/drawing/2014/main" id="{F39C4899-8AB1-0424-66A7-A45A995E9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78" y="2744744"/>
            <a:ext cx="374823" cy="36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00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RALEIGH: A BALANCED DIGITAL MARKET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9644" y="1287140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Contractor</a:t>
            </a: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 Insights:</a:t>
            </a:r>
            <a:endParaRPr lang="en-US" altLang="en-US" sz="1600" b="1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Social media and email marketing are widely used but need optimization.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Budgets range from $1,000–$3,000 monthly, indicating willingness to invest.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endParaRPr lang="en-US" altLang="en-US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Key challenge:</a:t>
            </a:r>
            <a:endParaRPr lang="en-US" altLang="en-US" sz="1600" b="1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Difficulty generating high-quality leads.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endParaRPr lang="en-US" altLang="en-US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Opportunities:</a:t>
            </a:r>
            <a:endParaRPr lang="en-US" altLang="en-US" sz="1600" b="1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Advanced analytics tools to track ROI.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Lead optimization strategies tailored to contractor needs.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</p:txBody>
      </p:sp>
      <p:pic>
        <p:nvPicPr>
          <p:cNvPr id="3" name="Picture 2" descr="Communication skills">
            <a:extLst>
              <a:ext uri="{FF2B5EF4-FFF2-40B4-BE49-F238E27FC236}">
                <a16:creationId xmlns:a16="http://schemas.microsoft.com/office/drawing/2014/main" id="{D2CE4770-2E3D-D0CE-3BAF-AECD1E3A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54" y="1385502"/>
            <a:ext cx="410863" cy="405714"/>
          </a:xfrm>
          <a:prstGeom prst="rect">
            <a:avLst/>
          </a:prstGeom>
        </p:spPr>
      </p:pic>
      <p:pic>
        <p:nvPicPr>
          <p:cNvPr id="5" name="Picture 4" descr="Operations">
            <a:extLst>
              <a:ext uri="{FF2B5EF4-FFF2-40B4-BE49-F238E27FC236}">
                <a16:creationId xmlns:a16="http://schemas.microsoft.com/office/drawing/2014/main" id="{6E09876E-9706-B570-94DC-76687C928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66717"/>
            <a:ext cx="379971" cy="374822"/>
          </a:xfrm>
          <a:prstGeom prst="rect">
            <a:avLst/>
          </a:prstGeom>
        </p:spPr>
      </p:pic>
      <p:pic>
        <p:nvPicPr>
          <p:cNvPr id="7" name="Picture 6" descr="Service">
            <a:extLst>
              <a:ext uri="{FF2B5EF4-FFF2-40B4-BE49-F238E27FC236}">
                <a16:creationId xmlns:a16="http://schemas.microsoft.com/office/drawing/2014/main" id="{572D77B6-3AF7-34A3-41E6-8A6B31579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62" y="3297811"/>
            <a:ext cx="407054" cy="3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69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BOISE: A TRADITIONAL BUT EVOLVING MARKET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73806" y="1287140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Contractor Insights: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Heavy reliance on word-of-mouth and referrals.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Budgets below $500 monthly, highlighting cost sensitivity.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endParaRPr lang="en-US" altLang="en-US" sz="1600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Key challenge: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High advertising costs with limited digital ROI.</a:t>
            </a:r>
            <a:endParaRPr lang="en-US" altLang="en-US" dirty="0">
              <a:solidFill>
                <a:srgbClr val="003B71"/>
              </a:solidFill>
              <a:latin typeface="Bookman Old Style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endParaRPr lang="en-US" altLang="en-US" sz="1600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Opportunities: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Entry-level packages for social media and referrals.</a:t>
            </a:r>
            <a:endParaRPr lang="en-US" dirty="0">
              <a:solidFill>
                <a:srgbClr val="003B71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Workshops to improve digital marketing literacy.</a:t>
            </a:r>
            <a:endParaRPr lang="en-US" dirty="0">
              <a:solidFill>
                <a:srgbClr val="003B71"/>
              </a:solidFill>
              <a:latin typeface="Bookman Old Style"/>
            </a:endParaRPr>
          </a:p>
        </p:txBody>
      </p:sp>
      <p:pic>
        <p:nvPicPr>
          <p:cNvPr id="2" name="Picture 1" descr="Communication skills">
            <a:extLst>
              <a:ext uri="{FF2B5EF4-FFF2-40B4-BE49-F238E27FC236}">
                <a16:creationId xmlns:a16="http://schemas.microsoft.com/office/drawing/2014/main" id="{CFAEC070-A0B4-59FD-24F0-F612369F4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54" y="1385502"/>
            <a:ext cx="410863" cy="405714"/>
          </a:xfrm>
          <a:prstGeom prst="rect">
            <a:avLst/>
          </a:prstGeom>
        </p:spPr>
      </p:pic>
      <p:pic>
        <p:nvPicPr>
          <p:cNvPr id="3" name="Picture 2" descr="Operations">
            <a:extLst>
              <a:ext uri="{FF2B5EF4-FFF2-40B4-BE49-F238E27FC236}">
                <a16:creationId xmlns:a16="http://schemas.microsoft.com/office/drawing/2014/main" id="{1F4F810E-5E1A-5740-C9FB-38827477B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66717"/>
            <a:ext cx="379971" cy="374822"/>
          </a:xfrm>
          <a:prstGeom prst="rect">
            <a:avLst/>
          </a:prstGeom>
        </p:spPr>
      </p:pic>
      <p:pic>
        <p:nvPicPr>
          <p:cNvPr id="4" name="Picture 3" descr="Service">
            <a:extLst>
              <a:ext uri="{FF2B5EF4-FFF2-40B4-BE49-F238E27FC236}">
                <a16:creationId xmlns:a16="http://schemas.microsoft.com/office/drawing/2014/main" id="{7FC9751E-7F67-4862-8F97-E699C0FA8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62" y="3297811"/>
            <a:ext cx="407054" cy="3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3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SHARED CONTRACTOR CHALLENGES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5664A-1ACC-DC10-3A2B-1F5F0FF43E28}"/>
              </a:ext>
            </a:extLst>
          </p:cNvPr>
          <p:cNvSpPr/>
          <p:nvPr/>
        </p:nvSpPr>
        <p:spPr>
          <a:xfrm>
            <a:off x="617838" y="2419864"/>
            <a:ext cx="2306594" cy="875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aseline="0" dirty="0">
                <a:solidFill>
                  <a:srgbClr val="FFFFFF"/>
                </a:solidFill>
                <a:latin typeface="Bookman Old Style"/>
                <a:ea typeface="Arial"/>
                <a:cs typeface="Arial"/>
              </a:rPr>
              <a:t>Low-quality leads from current channels.</a:t>
            </a:r>
            <a:r>
              <a:rPr lang="en-US" sz="1600" dirty="0">
                <a:solidFill>
                  <a:srgbClr val="FFFFFF"/>
                </a:solidFill>
                <a:latin typeface="Bookman Old Style"/>
                <a:ea typeface="Arial"/>
                <a:cs typeface="Arial"/>
              </a:rPr>
              <a:t>​</a:t>
            </a:r>
            <a:endParaRPr lang="en-US" dirty="0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0D5B4-F076-B3E8-BEB2-23279BB61CA8}"/>
              </a:ext>
            </a:extLst>
          </p:cNvPr>
          <p:cNvSpPr/>
          <p:nvPr/>
        </p:nvSpPr>
        <p:spPr>
          <a:xfrm>
            <a:off x="3490784" y="2419864"/>
            <a:ext cx="2306594" cy="875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aseline="0" dirty="0">
                <a:solidFill>
                  <a:srgbClr val="FFFFFF"/>
                </a:solidFill>
                <a:latin typeface="Bookman Old Style"/>
                <a:ea typeface="Arial"/>
                <a:cs typeface="Arial"/>
              </a:rPr>
              <a:t>High advertising costs impacting ROI.</a:t>
            </a:r>
            <a:r>
              <a:rPr lang="en-US" sz="1600" dirty="0">
                <a:solidFill>
                  <a:srgbClr val="FFFFFF"/>
                </a:solidFill>
                <a:latin typeface="Bookman Old Style"/>
                <a:ea typeface="Arial"/>
                <a:cs typeface="Arial"/>
              </a:rPr>
              <a:t>​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1DFC68-C7F7-8D88-D6C4-877CF5FCB491}"/>
              </a:ext>
            </a:extLst>
          </p:cNvPr>
          <p:cNvSpPr/>
          <p:nvPr/>
        </p:nvSpPr>
        <p:spPr>
          <a:xfrm>
            <a:off x="6415216" y="2419864"/>
            <a:ext cx="2306594" cy="875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aseline="0" dirty="0">
                <a:solidFill>
                  <a:srgbClr val="FFFFFF"/>
                </a:solidFill>
                <a:latin typeface="Bookman Old Style"/>
                <a:ea typeface="Arial"/>
                <a:cs typeface="Arial"/>
              </a:rPr>
              <a:t>Lack of actionable analytics and insights.</a:t>
            </a:r>
            <a:r>
              <a:rPr lang="en-US" sz="1600" dirty="0">
                <a:solidFill>
                  <a:srgbClr val="FFFFFF"/>
                </a:solidFill>
                <a:latin typeface="Bookman Old Style"/>
                <a:ea typeface="Arial"/>
                <a:cs typeface="Arial"/>
              </a:rPr>
              <a:t>​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3" name="Picture 12" descr="Operations">
            <a:extLst>
              <a:ext uri="{FF2B5EF4-FFF2-40B4-BE49-F238E27FC236}">
                <a16:creationId xmlns:a16="http://schemas.microsoft.com/office/drawing/2014/main" id="{AB2B640F-0550-25C3-AC7B-B5B7974C5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495" y="1704717"/>
            <a:ext cx="529282" cy="549876"/>
          </a:xfrm>
          <a:prstGeom prst="rect">
            <a:avLst/>
          </a:prstGeom>
        </p:spPr>
      </p:pic>
      <p:pic>
        <p:nvPicPr>
          <p:cNvPr id="14" name="Picture 13" descr="Strategic consulting">
            <a:extLst>
              <a:ext uri="{FF2B5EF4-FFF2-40B4-BE49-F238E27FC236}">
                <a16:creationId xmlns:a16="http://schemas.microsoft.com/office/drawing/2014/main" id="{60F07322-191C-B2F8-B3B2-58A027AB3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971" y="1716729"/>
            <a:ext cx="497360" cy="529397"/>
          </a:xfrm>
          <a:prstGeom prst="rect">
            <a:avLst/>
          </a:prstGeom>
        </p:spPr>
      </p:pic>
      <p:pic>
        <p:nvPicPr>
          <p:cNvPr id="15" name="Picture 14" descr="Solution">
            <a:extLst>
              <a:ext uri="{FF2B5EF4-FFF2-40B4-BE49-F238E27FC236}">
                <a16:creationId xmlns:a16="http://schemas.microsoft.com/office/drawing/2014/main" id="{93886002-8A1D-4B66-28D7-6C033DEF5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8267" y="1771649"/>
            <a:ext cx="474134" cy="48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20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TRANSLATING INSIGHTS INTO STRATEGY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23181"/>
            <a:ext cx="7702550" cy="2497137"/>
          </a:xfrm>
        </p:spPr>
        <p:txBody>
          <a:bodyPr/>
          <a:lstStyle/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sz="16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Raleigh and Boise represent distinct yet complementary markets.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altLang="en-US" sz="16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DM Sans" pitchFamily="2" charset="0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sz="16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Qualitative data from interviews guides tailored solutions:</a:t>
            </a:r>
          </a:p>
          <a:p>
            <a:pPr marL="742950" lvl="1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sz="16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Advanced tools for Raleigh.</a:t>
            </a:r>
          </a:p>
          <a:p>
            <a:pPr marL="742950" lvl="1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altLang="en-US" sz="16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DM Sans" pitchFamily="2" charset="0"/>
              </a:rPr>
              <a:t>Affordable, high-impact strategies for Boise.</a:t>
            </a:r>
          </a:p>
        </p:txBody>
      </p:sp>
    </p:spTree>
    <p:extLst>
      <p:ext uri="{BB962C8B-B14F-4D97-AF65-F5344CB8AC3E}">
        <p14:creationId xmlns:p14="http://schemas.microsoft.com/office/powerpoint/2010/main" val="240651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sz="2500" dirty="0">
                <a:solidFill>
                  <a:srgbClr val="003B71"/>
                </a:solidFill>
                <a:latin typeface="Bookman Old Style"/>
                <a:sym typeface="Bookman Old Style" panose="02050604050505020204" pitchFamily="18" charset="0"/>
              </a:rPr>
              <a:t>OUR RECOMMENDATION</a:t>
            </a:r>
            <a:endParaRPr lang="en-US" altLang="en-US" sz="25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FEF651-0E48-46DB-7481-1E2E71FB9E9E}"/>
              </a:ext>
            </a:extLst>
          </p:cNvPr>
          <p:cNvSpPr/>
          <p:nvPr/>
        </p:nvSpPr>
        <p:spPr>
          <a:xfrm>
            <a:off x="1266567" y="2461054"/>
            <a:ext cx="3200399" cy="875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14999"/>
              </a:lnSpc>
            </a:pPr>
            <a:r>
              <a:rPr lang="en-US" sz="1600" dirty="0">
                <a:solidFill>
                  <a:schemeClr val="bg2"/>
                </a:solidFill>
                <a:latin typeface="Bookman Old Style"/>
                <a:cs typeface="Arial"/>
              </a:rPr>
              <a:t>Choose Raleigh as </a:t>
            </a:r>
          </a:p>
          <a:p>
            <a:pPr algn="ctr">
              <a:lnSpc>
                <a:spcPct val="114999"/>
              </a:lnSpc>
            </a:pPr>
            <a:r>
              <a:rPr lang="en-US" sz="1600" dirty="0">
                <a:solidFill>
                  <a:schemeClr val="bg2"/>
                </a:solidFill>
                <a:latin typeface="Bookman Old Style"/>
                <a:cs typeface="Arial"/>
              </a:rPr>
              <a:t>Entry point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523EE-C259-5975-C278-4B6272329215}"/>
              </a:ext>
            </a:extLst>
          </p:cNvPr>
          <p:cNvSpPr/>
          <p:nvPr/>
        </p:nvSpPr>
        <p:spPr>
          <a:xfrm>
            <a:off x="4839729" y="2461054"/>
            <a:ext cx="3202458" cy="875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14999"/>
              </a:lnSpc>
            </a:pPr>
            <a:r>
              <a:rPr lang="en-US" sz="1600" dirty="0">
                <a:solidFill>
                  <a:schemeClr val="bg2"/>
                </a:solidFill>
                <a:latin typeface="Bookman Old Style"/>
                <a:cs typeface="Arial"/>
              </a:rPr>
              <a:t>Expand to Boise based on business outcomes from Raleigh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2" name="Picture 11" descr="Consultant">
            <a:extLst>
              <a:ext uri="{FF2B5EF4-FFF2-40B4-BE49-F238E27FC236}">
                <a16:creationId xmlns:a16="http://schemas.microsoft.com/office/drawing/2014/main" id="{03C42571-FC5A-39F5-A8E1-58D4DA01B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968" y="1715014"/>
            <a:ext cx="616809" cy="611660"/>
          </a:xfrm>
          <a:prstGeom prst="rect">
            <a:avLst/>
          </a:prstGeom>
        </p:spPr>
      </p:pic>
      <p:pic>
        <p:nvPicPr>
          <p:cNvPr id="13" name="Picture 12" descr="Consultant">
            <a:extLst>
              <a:ext uri="{FF2B5EF4-FFF2-40B4-BE49-F238E27FC236}">
                <a16:creationId xmlns:a16="http://schemas.microsoft.com/office/drawing/2014/main" id="{0B42F6C6-2A1E-9A29-4BB8-284C55B71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576" y="1715014"/>
            <a:ext cx="580768" cy="58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55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768;p71">
            <a:extLst>
              <a:ext uri="{FF2B5EF4-FFF2-40B4-BE49-F238E27FC236}">
                <a16:creationId xmlns:a16="http://schemas.microsoft.com/office/drawing/2014/main" id="{C01FACAE-0867-1F81-86D1-52B990B0422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613918" y="1813663"/>
            <a:ext cx="4000285" cy="13077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3B71"/>
                </a:solidFill>
                <a:cs typeface="Arial"/>
                <a:sym typeface="Lora" pitchFamily="2" charset="0"/>
              </a:rPr>
              <a:t>COMPETITOR ANALYSIS</a:t>
            </a:r>
            <a:endParaRPr lang="en-US" dirty="0">
              <a:cs typeface="Arial"/>
            </a:endParaRPr>
          </a:p>
        </p:txBody>
      </p:sp>
      <p:sp>
        <p:nvSpPr>
          <p:cNvPr id="97283" name="Google Shape;769;p71">
            <a:extLst>
              <a:ext uri="{FF2B5EF4-FFF2-40B4-BE49-F238E27FC236}">
                <a16:creationId xmlns:a16="http://schemas.microsoft.com/office/drawing/2014/main" id="{3789675F-CCE0-E871-404B-689FEE7BA7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77729" y="1832874"/>
            <a:ext cx="1342223" cy="1265630"/>
          </a:xfrm>
          <a:ln>
            <a:noFill/>
          </a:ln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dirty="0">
                <a:solidFill>
                  <a:srgbClr val="003B71"/>
                </a:solidFill>
                <a:cs typeface="Arial"/>
                <a:sym typeface="DM Sans" pitchFamily="2" charset="0"/>
              </a:rPr>
              <a:t>03</a:t>
            </a:r>
            <a:endParaRPr lang="en-US" altLang="en-US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  <a:sym typeface="DM Sans" pitchFamily="2" charset="0"/>
            </a:endParaRPr>
          </a:p>
        </p:txBody>
      </p:sp>
      <p:cxnSp>
        <p:nvCxnSpPr>
          <p:cNvPr id="97285" name="Google Shape;771;p71">
            <a:extLst>
              <a:ext uri="{FF2B5EF4-FFF2-40B4-BE49-F238E27FC236}">
                <a16:creationId xmlns:a16="http://schemas.microsoft.com/office/drawing/2014/main" id="{57DF5652-1EB7-DAA8-0BC7-7808E79CA8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86" name="Google Shape;772;p71">
            <a:extLst>
              <a:ext uri="{FF2B5EF4-FFF2-40B4-BE49-F238E27FC236}">
                <a16:creationId xmlns:a16="http://schemas.microsoft.com/office/drawing/2014/main" id="{4B594F3E-3B73-6D4A-2E25-DB26F165C6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967044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500" dirty="0">
                <a:solidFill>
                  <a:srgbClr val="003B71"/>
                </a:solidFill>
                <a:latin typeface="Bookman Old Style" panose="02050604050505020204" pitchFamily="18" charset="0"/>
                <a:sym typeface="Bookman Old Style" panose="02050604050505020204" pitchFamily="18" charset="0"/>
              </a:rPr>
              <a:t>Standing Out in Raleigh's Competitive Digital Marketing Landscape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5886" y="1578619"/>
            <a:ext cx="6291821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b="1" dirty="0">
                <a:solidFill>
                  <a:srgbClr val="003B71"/>
                </a:solidFill>
                <a:latin typeface="DM Sans" pitchFamily="2" charset="0"/>
                <a:cs typeface="Arial" panose="020B0604020202020204" pitchFamily="34" charset="0"/>
                <a:sym typeface="DM Sans" pitchFamily="2" charset="0"/>
              </a:rPr>
              <a:t>Objective: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DM Sans" pitchFamily="2" charset="77"/>
              </a:rPr>
              <a:t>To analyze Raleigh's digital marketing space, identifying opportunities for differentiation.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altLang="en-US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>
              <a:lnSpc>
                <a:spcPct val="114999"/>
              </a:lnSpc>
              <a:spcBef>
                <a:spcPct val="0"/>
              </a:spcBef>
              <a:spcAft>
                <a:spcPct val="0"/>
              </a:spcAft>
              <a:buFont typeface="Open Sans"/>
              <a:buNone/>
            </a:pPr>
            <a:endParaRPr lang="en-US" altLang="en-US" dirty="0">
              <a:solidFill>
                <a:srgbClr val="003B71"/>
              </a:solidFill>
              <a:latin typeface="DM Sans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b="1" dirty="0">
                <a:solidFill>
                  <a:srgbClr val="003B71"/>
                </a:solidFill>
                <a:latin typeface="DM Sans" pitchFamily="2" charset="0"/>
                <a:cs typeface="Arial" panose="020B0604020202020204" pitchFamily="34" charset="0"/>
                <a:sym typeface="DM Sans" pitchFamily="2" charset="0"/>
              </a:rPr>
              <a:t>Process:</a:t>
            </a:r>
          </a:p>
          <a:p>
            <a:pPr marL="0" indent="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DM Sans" pitchFamily="2" charset="77"/>
              </a:rPr>
              <a:t>Studied six key competitors and evaluated gaps in their service offerings.</a:t>
            </a:r>
            <a:br>
              <a:rPr lang="en-US" dirty="0">
                <a:solidFill>
                  <a:schemeClr val="tx2">
                    <a:lumMod val="75000"/>
                  </a:schemeClr>
                </a:solidFill>
                <a:latin typeface="DM Sans" pitchFamily="2" charset="77"/>
              </a:rPr>
            </a:br>
            <a:endParaRPr lang="en-US" altLang="en-US" dirty="0">
              <a:solidFill>
                <a:schemeClr val="tx2">
                  <a:lumMod val="75000"/>
                </a:schemeClr>
              </a:solidFill>
              <a:latin typeface="DM Sans" pitchFamily="2" charset="77"/>
              <a:cs typeface="Arial" panose="020B0604020202020204" pitchFamily="34" charset="0"/>
              <a:sym typeface="DM Sans" pitchFamily="2" charset="0"/>
            </a:endParaRPr>
          </a:p>
        </p:txBody>
      </p:sp>
      <p:pic>
        <p:nvPicPr>
          <p:cNvPr id="2" name="Picture 1" descr="Clarification">
            <a:extLst>
              <a:ext uri="{FF2B5EF4-FFF2-40B4-BE49-F238E27FC236}">
                <a16:creationId xmlns:a16="http://schemas.microsoft.com/office/drawing/2014/main" id="{7C8AF28D-C0E3-9A2A-EBA6-2FC2154B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98" y="2796230"/>
            <a:ext cx="410863" cy="405715"/>
          </a:xfrm>
          <a:prstGeom prst="rect">
            <a:avLst/>
          </a:prstGeom>
        </p:spPr>
      </p:pic>
      <p:pic>
        <p:nvPicPr>
          <p:cNvPr id="3" name="Picture 2" descr="Seo chatting">
            <a:extLst>
              <a:ext uri="{FF2B5EF4-FFF2-40B4-BE49-F238E27FC236}">
                <a16:creationId xmlns:a16="http://schemas.microsoft.com/office/drawing/2014/main" id="{1D3DA01F-6575-155C-DA12-9B2F0A943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94" y="1699568"/>
            <a:ext cx="421161" cy="4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15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sz="2500" i="0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HOW WE IDENTIFIED COMPETITORS</a:t>
            </a:r>
            <a:endParaRPr lang="en-US" altLang="en-US" sz="250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108436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altLang="en-US" sz="1600" b="1" dirty="0">
                <a:solidFill>
                  <a:srgbClr val="003B71"/>
                </a:solidFill>
                <a:latin typeface="Bookman Old Style"/>
                <a:sym typeface="DM Sans" pitchFamily="2" charset="0"/>
              </a:rPr>
              <a:t>K</a:t>
            </a:r>
            <a:r>
              <a:rPr lang="en-US" altLang="en-US" sz="1600" b="1" dirty="0">
                <a:solidFill>
                  <a:schemeClr val="tx2"/>
                </a:solidFill>
                <a:latin typeface="Bookman Old Style"/>
                <a:sym typeface="DM Sans" pitchFamily="2" charset="0"/>
              </a:rPr>
              <a:t>ey Criteria for City Selection:</a:t>
            </a:r>
            <a:endParaRPr lang="en-US" altLang="en-US" sz="1600" b="1" dirty="0">
              <a:solidFill>
                <a:schemeClr val="tx2"/>
              </a:solidFill>
              <a:latin typeface="Bookman Old Styl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Presence in the Raleigh market.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Focus on small to mid-sized businesses or niche sectors.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Use of innovative digital marketing technologies.</a:t>
            </a:r>
            <a:b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</a:br>
            <a:b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</a:b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sz="1600" b="1" dirty="0">
                <a:solidFill>
                  <a:schemeClr val="tx2"/>
                </a:solidFill>
                <a:latin typeface="Bookman Old Style"/>
              </a:rPr>
              <a:t>Competitors Identified: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Bluevine (Enterprise Marketing)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Nover Marketing (Local/Niche Strategies)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Builder Funnel (Construction/Home Improvement)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Johnson Jones Group (Branding Experts)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FatCat Strategies (Small Business Focus)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Builders Agency (Affordable Niche Marketing)</a:t>
            </a:r>
          </a:p>
        </p:txBody>
      </p:sp>
    </p:spTree>
    <p:extLst>
      <p:ext uri="{BB962C8B-B14F-4D97-AF65-F5344CB8AC3E}">
        <p14:creationId xmlns:p14="http://schemas.microsoft.com/office/powerpoint/2010/main" val="925735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sz="250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BLUEVINE</a:t>
            </a:r>
            <a:endParaRPr lang="en-US" altLang="en-US" sz="25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150903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Strengths: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Comprehensive strategies for large-scale enterprise needs, leveraging advanced analytics.</a:t>
            </a:r>
            <a:endParaRPr lang="en-US" altLang="en-US" dirty="0">
              <a:solidFill>
                <a:schemeClr val="tx2"/>
              </a:solidFill>
              <a:latin typeface="Bookman Old Style" panose="02050604050505020204" pitchFamily="18" charset="0"/>
              <a:cs typeface="Arial" panose="020B0604020202020204" pitchFamily="34" charset="0"/>
              <a:sym typeface="DM Sans" pitchFamily="2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1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pPr marL="0" indent="0" algn="just">
              <a:lnSpc>
                <a:spcPct val="114999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Weaknesses:</a:t>
            </a:r>
            <a:endParaRPr lang="en-US" sz="1600" dirty="0">
              <a:solidFill>
                <a:schemeClr val="tx2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Limited appeal for small businesses seeking cost-effective solutions.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Opportunities for The company: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Affordable AI-driven strategies for SMBs.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Transparent tiered pricing to attract budget-conscious clients.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037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sz="250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NOVER MARKETING</a:t>
            </a:r>
            <a:endParaRPr lang="en-US" altLang="en-US" sz="2500" dirty="0">
              <a:solidFill>
                <a:schemeClr val="tx2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23181"/>
            <a:ext cx="7702550" cy="2497137"/>
          </a:xfrm>
        </p:spPr>
        <p:txBody>
          <a:bodyPr/>
          <a:lstStyle/>
          <a:p>
            <a:pPr marL="177800" indent="0" algn="l"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Strengths: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Tailored, localized solutions; strong client relationships.</a:t>
            </a:r>
          </a:p>
          <a:p>
            <a:pPr marL="177800" indent="0">
              <a:buNone/>
            </a:pPr>
            <a:endParaRPr lang="en-US" b="1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pPr marL="177800" indent="0" algn="l"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Weaknesses: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  <a:endParaRPr lang="en-US" sz="1600" dirty="0">
              <a:solidFill>
                <a:schemeClr val="tx2"/>
              </a:solidFill>
              <a:latin typeface="Bookman Old Style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Lack of scalability and innovation in technology.</a:t>
            </a:r>
            <a:b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</a:b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177800" indent="0" algn="l"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Opportunities for The company:</a:t>
            </a:r>
            <a:endParaRPr lang="en-US" sz="1600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Scalable solutions incorporating cutting-edge tools.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Industry-specific innovations to broaden appeal.</a:t>
            </a:r>
          </a:p>
          <a:p>
            <a:pPr marL="177800" indent="0">
              <a:buNone/>
            </a:pPr>
            <a:b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</a:br>
            <a:endParaRPr lang="en-US" altLang="en-US" dirty="0">
              <a:solidFill>
                <a:schemeClr val="tx2"/>
              </a:solidFill>
              <a:latin typeface="Bookman Old Style" panose="02050604050505020204" pitchFamily="18" charset="0"/>
              <a:cs typeface="Arial" panose="020B0604020202020204" pitchFamily="34" charset="0"/>
              <a:sym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647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4A94-F0BD-615F-4C5B-993CEC16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450347DD-3454-EE44-F17D-4921EC8ED9D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sz="25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Builder Funnel</a:t>
            </a:r>
            <a:endParaRPr lang="en-US" altLang="en-US" sz="250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9B0E0289-B3D8-A297-9128-D00DDB74D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150903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Strengths: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Expertise in content creation, SEO, and lead generation for construction. 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1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pPr marL="0" indent="0" algn="just">
              <a:lnSpc>
                <a:spcPct val="114999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Weaknesses:</a:t>
            </a:r>
            <a:endParaRPr lang="en-US" sz="1600" dirty="0">
              <a:solidFill>
                <a:schemeClr val="tx2"/>
              </a:solidFill>
              <a:latin typeface="Bookman Old Style"/>
            </a:endParaRPr>
          </a:p>
          <a:p>
            <a:pPr marL="285750" indent="-28575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Limited focus outside the construction sector; lacks versatility.</a:t>
            </a:r>
            <a:b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</a:b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Opportunities for The company: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Create broader industry-specific strategies with advanced analytics tools.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148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8474-449F-DB6F-67DB-44DFF3DF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41390B5B-D281-880F-6B07-AB1C368D56D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algn="l"/>
            <a:r>
              <a:rPr lang="en-US" sz="250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JOHNSON JONES GROUP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2B123C58-231C-2881-BA13-831D6A330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150903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Strengths: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High-impact branding campaigns; strong narrative-driven marketing.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1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pPr marL="0" indent="0" algn="just">
              <a:lnSpc>
                <a:spcPct val="114999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Weaknesses:</a:t>
            </a:r>
            <a:endParaRPr lang="en-US" sz="1600" dirty="0">
              <a:solidFill>
                <a:schemeClr val="tx2"/>
              </a:solidFill>
              <a:latin typeface="Bookman Old Style"/>
            </a:endParaRPr>
          </a:p>
          <a:p>
            <a:pPr marL="285750" indent="-28575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Premium pricing and strategy focus over measurable ROI.</a:t>
            </a:r>
          </a:p>
          <a:p>
            <a:pPr marL="0" indent="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0" indent="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Opportunities for The company:</a:t>
            </a:r>
          </a:p>
          <a:p>
            <a:pPr marL="285750" indent="-28575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Emphasize ROI-focused strategies to attract cost-conscious clients.</a:t>
            </a:r>
          </a:p>
          <a:p>
            <a:pPr marL="285750" indent="-28575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Develop performance-based metrics to complement branding efforts.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004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F777-B9B4-5390-A027-F384B482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2BB3F879-6A08-F9F3-2CB2-F571EE3D0CA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algn="l"/>
            <a:r>
              <a:rPr lang="en-US" sz="250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FATCAT STRATEGIES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C7D1802A-C130-4BBE-FDD1-91265AFF4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150903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Strengths: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Affordable marketing packages; effective local SEO and lead generation.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1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pPr marL="0" indent="0" algn="just">
              <a:lnSpc>
                <a:spcPct val="114999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Weaknesses:</a:t>
            </a:r>
            <a:endParaRPr lang="en-US" sz="1600" dirty="0">
              <a:solidFill>
                <a:schemeClr val="tx2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Limited scalability and service range.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1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Opportunities for The company: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  <a:t>Expand service range to include scalable, advanced digital solutions.</a:t>
            </a:r>
          </a:p>
          <a:p>
            <a:pPr marL="285750" indent="-285750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dirty="0">
                <a:solidFill>
                  <a:schemeClr val="tx2"/>
                </a:solidFill>
                <a:latin typeface="Bookman Old Style" panose="02050604050505020204" pitchFamily="18" charset="0"/>
              </a:rPr>
              <a:t>Position as a comprehensive marketing partner for growing businesses.</a:t>
            </a:r>
            <a:br>
              <a:rPr lang="en-US" dirty="0">
                <a:latin typeface="Bookman Old Style" panose="02050604050505020204" pitchFamily="18" charset="0"/>
              </a:rPr>
            </a:b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699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4FE7-EBAF-08BB-2FAF-9FEF7396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21DDB546-76E7-2E2F-1B0D-12C5D49C306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algn="l"/>
            <a:r>
              <a:rPr lang="en-US" sz="250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BUILDERS AGENCY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34F13B2F-8336-24F3-F957-3FE4F31C08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150903"/>
            <a:ext cx="7702550" cy="249713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Strengths:</a:t>
            </a:r>
            <a:r>
              <a:rPr lang="en-US" sz="16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 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Affordable and targeted marketing for construction/home services.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1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pPr marL="0" indent="0" algn="just">
              <a:lnSpc>
                <a:spcPct val="114999"/>
              </a:lnSpc>
              <a:spcBef>
                <a:spcPct val="0"/>
              </a:spcBef>
              <a:spcAft>
                <a:spcPct val="0"/>
              </a:spcAft>
              <a:buFont typeface="Open Sans" panose="020B0606030504020204" pitchFamily="34" charset="0"/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Weaknesses:</a:t>
            </a:r>
            <a:endParaRPr lang="en-US" sz="1600" dirty="0">
              <a:solidFill>
                <a:schemeClr val="tx2"/>
              </a:solidFill>
              <a:latin typeface="Bookman Old Style"/>
            </a:endParaRP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Lack of advanced tools and diverse service offerings.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/>
              </a:rPr>
              <a:t>Opportunities for The company: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Introduce AR campaigns and advanced testing tools.</a:t>
            </a:r>
          </a:p>
          <a:p>
            <a:pPr marL="285750" indent="-28575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Develop cost-effective packages that cater to a broader range of industries.</a:t>
            </a:r>
          </a:p>
          <a:p>
            <a:pPr marL="0" indent="0" algn="just" eaLnBrk="1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None/>
            </a:pP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91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sz="25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Challenges in the Current Competitive Landscape</a:t>
            </a:r>
            <a:endParaRPr lang="en-US" altLang="en-US" sz="2500" dirty="0">
              <a:solidFill>
                <a:schemeClr val="tx2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6082" y="1019411"/>
            <a:ext cx="7702550" cy="2497137"/>
          </a:xfrm>
        </p:spPr>
        <p:txBody>
          <a:bodyPr/>
          <a:lstStyle/>
          <a:p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Limited Specialization in Emerging Technologies:</a:t>
            </a: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742950" lvl="1" indent="-285750"/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Competitors lack focus on advanced tools like AI-driven analytics and personalized automation.</a:t>
            </a:r>
          </a:p>
          <a:p>
            <a:pPr marL="742950" lvl="1" indent="-285750"/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Lack of Transparent Pricing:</a:t>
            </a: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742950" lvl="1" indent="-285750"/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Absence of clear, predictable pricing models deters small to mid-sized businesses.</a:t>
            </a:r>
          </a:p>
          <a:p>
            <a:pPr marL="742950" lvl="1" indent="-285750"/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Technological Innovation Gap:</a:t>
            </a: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742950" lvl="1" indent="-285750"/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Few competitors leverage innovative strategies such as augmented reality campaigns or advanced A/B testing tools.</a:t>
            </a:r>
          </a:p>
          <a:p>
            <a:pPr marL="742950" lvl="1" indent="-285750"/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/>
            </a:endParaRPr>
          </a:p>
          <a:p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Customer Dissatisfaction:</a:t>
            </a:r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742950" lvl="1" indent="-285750"/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Feedback shows dissatisfaction with rigid marketing strategies and infrequent performance reviews.</a:t>
            </a:r>
          </a:p>
        </p:txBody>
      </p:sp>
    </p:spTree>
    <p:extLst>
      <p:ext uri="{BB962C8B-B14F-4D97-AF65-F5344CB8AC3E}">
        <p14:creationId xmlns:p14="http://schemas.microsoft.com/office/powerpoint/2010/main" val="3538157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444500"/>
            <a:ext cx="8111836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sz="25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Key </a:t>
            </a:r>
            <a:r>
              <a:rPr lang="en-US" sz="25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Strengths</a:t>
            </a:r>
            <a:r>
              <a:rPr lang="en-US" sz="25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 to aim for in-order to </a:t>
            </a:r>
            <a:r>
              <a:rPr lang="en-US" sz="25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s</a:t>
            </a:r>
            <a:r>
              <a:rPr lang="en-US" sz="25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tand Out</a:t>
            </a:r>
            <a:endParaRPr lang="en-US" altLang="en-US" sz="2500" dirty="0">
              <a:solidFill>
                <a:schemeClr val="tx2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019411"/>
            <a:ext cx="7702550" cy="2497137"/>
          </a:xfrm>
        </p:spPr>
        <p:txBody>
          <a:bodyPr/>
          <a:lstStyle/>
          <a:p>
            <a:pPr marL="177800" indent="0" algn="l">
              <a:buNone/>
            </a:pPr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Integration of Advanced Technologies:</a:t>
            </a: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Leverage AI and automation for hyper-personalized solutions.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Invest in innovative tools like augmented reality and advanced analytics to drive measurable ROI.</a:t>
            </a:r>
          </a:p>
          <a:p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177800" indent="0" algn="l">
              <a:buNone/>
            </a:pPr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Transparent and Flexible Pricing Models:</a:t>
            </a: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Offer clear, tiered pricing to attract diverse SMB clients.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Provide adaptable packages tailored to client needs and budgets.</a:t>
            </a:r>
          </a:p>
          <a:p>
            <a:endParaRPr lang="en-US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177800" indent="0" algn="l">
              <a:buNone/>
            </a:pPr>
            <a:r>
              <a:rPr lang="en-US" b="1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Client-Centric Growth Partnership:</a:t>
            </a:r>
            <a:endParaRPr lang="en-US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Build collaborative relationships through regular performance reviews and feedback.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Bookman Old Style" panose="02050604050505020204" pitchFamily="18" charset="0"/>
              </a:rPr>
              <a:t>Empower clients with workshops and training, positioning The company as a trusted partner.</a:t>
            </a:r>
          </a:p>
        </p:txBody>
      </p:sp>
    </p:spTree>
    <p:extLst>
      <p:ext uri="{BB962C8B-B14F-4D97-AF65-F5344CB8AC3E}">
        <p14:creationId xmlns:p14="http://schemas.microsoft.com/office/powerpoint/2010/main" val="1964811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68;p71">
            <a:extLst>
              <a:ext uri="{FF2B5EF4-FFF2-40B4-BE49-F238E27FC236}">
                <a16:creationId xmlns:a16="http://schemas.microsoft.com/office/drawing/2014/main" id="{3028C8AE-977F-7E8A-A323-DFFB78D6015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283980" y="1797050"/>
            <a:ext cx="3528466" cy="1344324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3B71"/>
                </a:solidFill>
                <a:latin typeface="Lora"/>
                <a:sym typeface="Lora" pitchFamily="2" charset="0"/>
              </a:rPr>
              <a:t>ENTRY STRATEGY</a:t>
            </a:r>
            <a:endParaRPr lang="en-US" dirty="0"/>
          </a:p>
        </p:txBody>
      </p:sp>
      <p:sp>
        <p:nvSpPr>
          <p:cNvPr id="6" name="Google Shape;769;p71">
            <a:extLst>
              <a:ext uri="{FF2B5EF4-FFF2-40B4-BE49-F238E27FC236}">
                <a16:creationId xmlns:a16="http://schemas.microsoft.com/office/drawing/2014/main" id="{07BE05DF-624B-3E72-9433-E9A170FF78A0}"/>
              </a:ext>
            </a:extLst>
          </p:cNvPr>
          <p:cNvSpPr txBox="1">
            <a:spLocks/>
          </p:cNvSpPr>
          <p:nvPr/>
        </p:nvSpPr>
        <p:spPr>
          <a:xfrm>
            <a:off x="940243" y="1950538"/>
            <a:ext cx="1341881" cy="1189038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hangingPunct="1"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sz="6500" kern="0" dirty="0">
                <a:solidFill>
                  <a:srgbClr val="003B71"/>
                </a:solidFill>
                <a:latin typeface="DM Sans"/>
              </a:rPr>
              <a:t>04</a:t>
            </a:r>
            <a:endParaRPr lang="en-US" altLang="en-US" sz="6500" kern="0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</a:endParaRPr>
          </a:p>
        </p:txBody>
      </p:sp>
      <p:cxnSp>
        <p:nvCxnSpPr>
          <p:cNvPr id="8" name="Google Shape;771;p71">
            <a:extLst>
              <a:ext uri="{FF2B5EF4-FFF2-40B4-BE49-F238E27FC236}">
                <a16:creationId xmlns:a16="http://schemas.microsoft.com/office/drawing/2014/main" id="{FC64AF24-2A50-F1F4-F365-DF25EE096F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Google Shape;772;p71">
            <a:extLst>
              <a:ext uri="{FF2B5EF4-FFF2-40B4-BE49-F238E27FC236}">
                <a16:creationId xmlns:a16="http://schemas.microsoft.com/office/drawing/2014/main" id="{BC2D2A52-B85D-C36B-1E5A-0A2AA65E34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031387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3817C19-1101-54EB-986C-ECD14CAF5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958544"/>
            <a:ext cx="7704000" cy="32256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3B71"/>
                </a:solidFill>
                <a:latin typeface="Bookman Old Style"/>
              </a:rPr>
              <a:t>SUGGESTED ENTRY STRATEGY:</a:t>
            </a:r>
          </a:p>
          <a:p>
            <a:pPr algn="just">
              <a:lnSpc>
                <a:spcPct val="150000"/>
              </a:lnSpc>
              <a:buNone/>
            </a:pPr>
            <a:endParaRPr lang="en-US" sz="10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20B0604020202020204" pitchFamily="34" charset="0"/>
              <a:buChar char="v"/>
            </a:pPr>
            <a:r>
              <a:rPr lang="en-US" sz="1600" dirty="0">
                <a:solidFill>
                  <a:srgbClr val="003B71"/>
                </a:solidFill>
                <a:latin typeface="Bookman Old Style" panose="02050604050505020204" pitchFamily="18" charset="0"/>
              </a:rPr>
              <a:t>Direct Market Entry:</a:t>
            </a:r>
            <a:endParaRPr lang="en-US" sz="1600" dirty="0">
              <a:latin typeface="Bookman Old Style" panose="02050604050505020204" pitchFamily="18" charset="0"/>
            </a:endParaRPr>
          </a:p>
          <a:p>
            <a:pPr algn="just">
              <a:buNone/>
            </a:pPr>
            <a:endParaRPr lang="en-US" sz="1400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742950" lvl="1" indent="-285750" algn="just"/>
            <a:r>
              <a:rPr lang="en-US" dirty="0">
                <a:solidFill>
                  <a:srgbClr val="003B71"/>
                </a:solidFill>
                <a:latin typeface="Bookman Old Style" panose="02050604050505020204" pitchFamily="18" charset="0"/>
              </a:rPr>
              <a:t>Set up a U.S. office or partner with local consultants/agencies to establish credibility and presence.</a:t>
            </a:r>
            <a:endParaRPr lang="en-US" dirty="0">
              <a:latin typeface="Bookman Old Style" panose="02050604050505020204" pitchFamily="18" charset="0"/>
            </a:endParaRPr>
          </a:p>
          <a:p>
            <a:pPr algn="just">
              <a:buNone/>
            </a:pPr>
            <a:endParaRPr lang="en-US" sz="12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,Sans-Serif"/>
              <a:buChar char="v"/>
            </a:pPr>
            <a:r>
              <a:rPr lang="en-US" sz="1600" dirty="0">
                <a:solidFill>
                  <a:srgbClr val="003B71"/>
                </a:solidFill>
                <a:latin typeface="Bookman Old Style" panose="02050604050505020204" pitchFamily="18" charset="0"/>
              </a:rPr>
              <a:t>Partnerships:</a:t>
            </a:r>
            <a:endParaRPr lang="en-US" sz="1600" dirty="0">
              <a:latin typeface="Bookman Old Style" panose="02050604050505020204" pitchFamily="18" charset="0"/>
            </a:endParaRPr>
          </a:p>
          <a:p>
            <a:pPr algn="just">
              <a:buNone/>
            </a:pPr>
            <a:endParaRPr lang="en-US" sz="1400" dirty="0">
              <a:latin typeface="Bookman Old Style" panose="02050604050505020204" pitchFamily="18" charset="0"/>
            </a:endParaRPr>
          </a:p>
          <a:p>
            <a:pPr marL="742950" lvl="1" indent="-285750" algn="just">
              <a:buFont typeface="Arial"/>
              <a:buChar char="○"/>
            </a:pPr>
            <a:r>
              <a:rPr lang="en-US" dirty="0">
                <a:solidFill>
                  <a:srgbClr val="003B71"/>
                </a:solidFill>
                <a:latin typeface="Bookman Old Style" panose="02050604050505020204" pitchFamily="18" charset="0"/>
              </a:rPr>
              <a:t>Collaborate with trade organizations, industry associations, or local digital marketing agencies to co-deliver services.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24678-7CA6-8A59-7153-5E106021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>
                <a:solidFill>
                  <a:srgbClr val="003B71"/>
                </a:solidFill>
                <a:latin typeface="Bookman Old Style"/>
              </a:rPr>
              <a:t>MARKET </a:t>
            </a:r>
            <a:r>
              <a:rPr lang="en-US" sz="2500" dirty="0">
                <a:solidFill>
                  <a:srgbClr val="003B71"/>
                </a:solidFill>
                <a:latin typeface="Lora"/>
              </a:rPr>
              <a:t>ENTRY</a:t>
            </a:r>
            <a:r>
              <a:rPr lang="en-US" sz="2500" dirty="0">
                <a:solidFill>
                  <a:srgbClr val="003B71"/>
                </a:solidFill>
                <a:latin typeface="Bookman Old Style"/>
              </a:rPr>
              <a:t> STRATEGY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612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524678-7CA6-8A59-7153-5E106021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>
                <a:solidFill>
                  <a:srgbClr val="003B71"/>
                </a:solidFill>
                <a:latin typeface="Bookman Old Style"/>
              </a:rPr>
              <a:t>OUR RECOMMENDATION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71B2E-BA4F-B6BE-F1DF-8F2A5B13C63A}"/>
              </a:ext>
            </a:extLst>
          </p:cNvPr>
          <p:cNvSpPr/>
          <p:nvPr/>
        </p:nvSpPr>
        <p:spPr>
          <a:xfrm>
            <a:off x="962797" y="2136689"/>
            <a:ext cx="7218403" cy="8752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Bookman Old Style"/>
                <a:cs typeface="Arial"/>
              </a:rPr>
              <a:t>We recommend direct market entry as opposed to collaborations with existing digital marketing business.</a:t>
            </a:r>
          </a:p>
        </p:txBody>
      </p:sp>
      <p:pic>
        <p:nvPicPr>
          <p:cNvPr id="8" name="Picture 7" descr="Financial advisor">
            <a:extLst>
              <a:ext uri="{FF2B5EF4-FFF2-40B4-BE49-F238E27FC236}">
                <a16:creationId xmlns:a16="http://schemas.microsoft.com/office/drawing/2014/main" id="{49D3B7B6-E99F-17E0-DC52-1715461A6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022" y="1421541"/>
            <a:ext cx="580768" cy="57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3817C19-1101-54EB-986C-ECD14CAF5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958544"/>
            <a:ext cx="7704000" cy="32256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endParaRPr lang="en-US" sz="10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20B0604020202020204" pitchFamily="34" charset="0"/>
              <a:buChar char="v"/>
            </a:pPr>
            <a:r>
              <a:rPr lang="en-US" sz="1600" dirty="0">
                <a:solidFill>
                  <a:srgbClr val="003B71"/>
                </a:solidFill>
                <a:latin typeface="Bookman Old Style" panose="02050604050505020204" pitchFamily="18" charset="0"/>
              </a:rPr>
              <a:t>Partnering with other digital marketing agencies</a:t>
            </a:r>
            <a:endParaRPr lang="en-US" sz="1600" dirty="0">
              <a:latin typeface="Bookman Old Style" panose="02050604050505020204" pitchFamily="18" charset="0"/>
            </a:endParaRPr>
          </a:p>
          <a:p>
            <a:pPr algn="just">
              <a:buNone/>
            </a:pPr>
            <a:endParaRPr lang="en-US" sz="1400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742950" lvl="1" indent="-285750" algn="just"/>
            <a:r>
              <a:rPr lang="en-US" dirty="0">
                <a:solidFill>
                  <a:srgbClr val="003B71"/>
                </a:solidFill>
                <a:latin typeface="Bookman Old Style" panose="02050604050505020204" pitchFamily="18" charset="0"/>
              </a:rPr>
              <a:t>Not recommended due to profitability issue</a:t>
            </a:r>
            <a:endParaRPr lang="en-US" dirty="0">
              <a:latin typeface="Bookman Old Style" panose="02050604050505020204" pitchFamily="18" charset="0"/>
            </a:endParaRPr>
          </a:p>
          <a:p>
            <a:pPr algn="just">
              <a:buNone/>
            </a:pPr>
            <a:endParaRPr lang="en-US" sz="1200" b="1" dirty="0">
              <a:solidFill>
                <a:srgbClr val="003B71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,Sans-Serif"/>
              <a:buChar char="v"/>
            </a:pPr>
            <a:r>
              <a:rPr lang="en-US" sz="1600" dirty="0">
                <a:solidFill>
                  <a:srgbClr val="003B71"/>
                </a:solidFill>
                <a:latin typeface="Bookman Old Style" panose="02050604050505020204" pitchFamily="18" charset="0"/>
              </a:rPr>
              <a:t>Business Acquisition</a:t>
            </a:r>
            <a:endParaRPr lang="en-US" sz="1600" dirty="0">
              <a:latin typeface="Bookman Old Style" panose="02050604050505020204" pitchFamily="18" charset="0"/>
            </a:endParaRPr>
          </a:p>
          <a:p>
            <a:pPr algn="just">
              <a:buNone/>
            </a:pPr>
            <a:endParaRPr lang="en-US" sz="1400" dirty="0">
              <a:latin typeface="Bookman Old Style" panose="02050604050505020204" pitchFamily="18" charset="0"/>
            </a:endParaRPr>
          </a:p>
          <a:p>
            <a:pPr marL="742950" lvl="1" indent="-285750" algn="just">
              <a:buFont typeface="Arial"/>
              <a:buChar char="○"/>
            </a:pPr>
            <a:r>
              <a:rPr lang="en-US" dirty="0">
                <a:solidFill>
                  <a:srgbClr val="003B71"/>
                </a:solidFill>
                <a:latin typeface="Bookman Old Style" panose="02050604050505020204" pitchFamily="18" charset="0"/>
              </a:rPr>
              <a:t>Not recommended due to Budget Constraints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24678-7CA6-8A59-7153-5E106021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>
                <a:solidFill>
                  <a:srgbClr val="003B71"/>
                </a:solidFill>
                <a:latin typeface="Bookman Old Style"/>
              </a:rPr>
              <a:t>Alternative Entry Strategies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58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50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STRATEGY FOR RALEIGH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520700" indent="-342900">
              <a:buAutoNum type="arabicPeriod"/>
            </a:pP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Physical Office Setup</a:t>
            </a:r>
            <a:endParaRPr lang="en-US" sz="1300" b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Establish an office in Raleigh to tap into its thriving economy and booming real estate market.</a:t>
            </a:r>
            <a:endParaRPr lang="en-US" sz="13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742950" lvl="1" indent="-285750"/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Utilize the space for client workshops, consultations, and live demonstrations of  analytics dashboards.</a:t>
            </a:r>
            <a:endParaRPr lang="en-US" sz="13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742950" lvl="1" indent="-285750"/>
            <a:endParaRPr lang="en-US" sz="1300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520700" indent="-342900">
              <a:buAutoNum type="arabicPeriod"/>
            </a:pP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Specialized Local Team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Build a dedicated team focused on lead generation, localized SEO, and social media strategies tailored for contractors.</a:t>
            </a:r>
          </a:p>
          <a:p>
            <a:pPr marL="742950" lvl="1" indent="-285750"/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Strengthen the local network by hiring professionals with deep connections to Raleigh's contractor and business community. </a:t>
            </a:r>
            <a:endParaRPr lang="en-US" sz="13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457200" lvl="1" indent="0">
              <a:buNone/>
            </a:pPr>
            <a:endParaRPr lang="en-US" sz="1300" b="1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520700" indent="-342900">
              <a:buAutoNum type="arabicPeriod"/>
            </a:pP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Community Engagement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Use the office to host free workshops and seminars, creating touchpoints with potential clients while showcasing industry expertise.</a:t>
            </a:r>
          </a:p>
        </p:txBody>
      </p:sp>
      <p:sp>
        <p:nvSpPr>
          <p:cNvPr id="3" name="Google Shape;1197;p95">
            <a:extLst>
              <a:ext uri="{FF2B5EF4-FFF2-40B4-BE49-F238E27FC236}">
                <a16:creationId xmlns:a16="http://schemas.microsoft.com/office/drawing/2014/main" id="{B4854F6F-7F7B-E843-9A8D-5FF31EF38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39" y="899264"/>
            <a:ext cx="8111836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ESTABLISHING A STRONG LOCAL PRESENCE</a:t>
            </a:r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885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50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STRATEGY FOR RALEIGH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520700" indent="-342900">
              <a:buAutoNum type="arabicPeriod"/>
            </a:pPr>
            <a:r>
              <a:rPr lang="en-US" sz="16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Recruitment</a:t>
            </a:r>
            <a:endParaRPr lang="en-US" sz="1600" b="1" dirty="0">
              <a:solidFill>
                <a:schemeClr val="tx2"/>
              </a:solidFill>
              <a:latin typeface="Bookman Old Style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Hire professionals familiar with Raleigh’s contractor networks and trends.</a:t>
            </a:r>
            <a:endParaRPr lang="en-US" dirty="0">
              <a:solidFill>
                <a:schemeClr val="tx2"/>
              </a:solidFill>
              <a:latin typeface="Bookman Old Style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Leverage their expertise to navigate local nuances and establish trust within the community.</a:t>
            </a:r>
          </a:p>
          <a:p>
            <a:pPr marL="742950" lvl="1" indent="-285750">
              <a:buFont typeface="Arial"/>
              <a:buChar char="•"/>
            </a:pPr>
            <a:endParaRPr lang="en-US" sz="1300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520700" indent="-342900">
              <a:buAutoNum type="arabicPeriod"/>
            </a:pPr>
            <a:r>
              <a:rPr lang="en-US" sz="16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Partnerships with business networks </a:t>
            </a:r>
            <a:endParaRPr lang="en-US" sz="1600" b="1" dirty="0">
              <a:solidFill>
                <a:schemeClr val="tx2"/>
              </a:solidFill>
              <a:latin typeface="Bookman Old Style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Collaborate with the Raleigh Chamber of Commerce and small business centers to enhance visibility.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Participate in local initiatives to position the business as an integral part of the community. </a:t>
            </a:r>
            <a:endParaRPr lang="en-US" dirty="0">
              <a:solidFill>
                <a:schemeClr val="tx2"/>
              </a:solidFill>
              <a:latin typeface="Bookman Old Style"/>
            </a:endParaRPr>
          </a:p>
        </p:txBody>
      </p:sp>
      <p:sp>
        <p:nvSpPr>
          <p:cNvPr id="3" name="Google Shape;1197;p95">
            <a:extLst>
              <a:ext uri="{FF2B5EF4-FFF2-40B4-BE49-F238E27FC236}">
                <a16:creationId xmlns:a16="http://schemas.microsoft.com/office/drawing/2014/main" id="{B4854F6F-7F7B-E843-9A8D-5FF31EF38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39" y="899264"/>
            <a:ext cx="8111836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TARGETED RECRUITMENT AND STRATEGIC PARTNERSHIPS</a:t>
            </a:r>
            <a:endParaRPr lang="en-US" sz="1600" b="1" dirty="0">
              <a:solidFill>
                <a:schemeClr val="tx2"/>
              </a:solidFill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078924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50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STRATEGY FOR RALEIGH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520700" indent="-342900">
              <a:buAutoNum type="arabicPeriod"/>
            </a:pPr>
            <a:r>
              <a:rPr lang="en-US" sz="16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Trade Organizations and Real Estate Associations</a:t>
            </a:r>
            <a:endParaRPr lang="en-US" sz="1600" b="1" dirty="0">
              <a:solidFill>
                <a:schemeClr val="tx2"/>
              </a:solidFill>
              <a:latin typeface="Bookman Old Style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Partner with influential groups like the 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North Carolina Association of REALTORS®️</a:t>
            </a: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to access contractor and real estate networks.</a:t>
            </a:r>
            <a:endParaRPr lang="en-US" sz="13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Sponsor industry events such as expos and forums to boost credibility and visibility.</a:t>
            </a:r>
            <a:endParaRPr lang="en-US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742950" lvl="1" indent="-285750">
              <a:buFont typeface="Arial"/>
              <a:buChar char="•"/>
            </a:pP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742950" lvl="1" indent="-285750">
              <a:buFont typeface="Arial"/>
              <a:buChar char="•"/>
            </a:pPr>
            <a:endParaRPr lang="en-US" sz="1300" b="0" i="0" dirty="0">
              <a:solidFill>
                <a:schemeClr val="tx2"/>
              </a:solidFill>
              <a:effectLst/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520700" indent="-342900">
              <a:buAutoNum type="arabicPeriod"/>
            </a:pPr>
            <a:r>
              <a:rPr lang="en-US" sz="16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Collaborating with Local Marketing Firms</a:t>
            </a:r>
            <a:endParaRPr lang="en-US" sz="1600" b="1" dirty="0">
              <a:solidFill>
                <a:schemeClr val="tx2"/>
              </a:solidFill>
              <a:latin typeface="Bookman Old Style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Form alliances with Raleigh-based real estate marketing firms to deliver co-branded campaigns or offer white-label services.</a:t>
            </a: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Focus on high-demand offerings like 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SEO</a:t>
            </a: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to meet contractor needs. </a:t>
            </a: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Utilize platforms such as Zillow, Facebook Marketplace, and Google Local Ads to amplify visibility and target leads  effectively.</a:t>
            </a:r>
          </a:p>
        </p:txBody>
      </p:sp>
      <p:sp>
        <p:nvSpPr>
          <p:cNvPr id="3" name="Google Shape;1197;p95">
            <a:extLst>
              <a:ext uri="{FF2B5EF4-FFF2-40B4-BE49-F238E27FC236}">
                <a16:creationId xmlns:a16="http://schemas.microsoft.com/office/drawing/2014/main" id="{B4854F6F-7F7B-E843-9A8D-5FF31EF38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39" y="899264"/>
            <a:ext cx="8111836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LEVERAGING PARTNERSHIPS FOR GROWTH</a:t>
            </a:r>
            <a:endParaRPr lang="en-US" sz="1600" b="1" dirty="0">
              <a:solidFill>
                <a:schemeClr val="tx2"/>
              </a:solidFill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414680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68;p71">
            <a:extLst>
              <a:ext uri="{FF2B5EF4-FFF2-40B4-BE49-F238E27FC236}">
                <a16:creationId xmlns:a16="http://schemas.microsoft.com/office/drawing/2014/main" id="{3028C8AE-977F-7E8A-A323-DFFB78D6015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283980" y="1797050"/>
            <a:ext cx="4927311" cy="1344324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3B71"/>
                </a:solidFill>
                <a:latin typeface="Lora"/>
                <a:sym typeface="Lora" pitchFamily="2" charset="0"/>
              </a:rPr>
              <a:t>MARKETING STRATEGY</a:t>
            </a:r>
            <a:endParaRPr lang="en-US" dirty="0"/>
          </a:p>
        </p:txBody>
      </p:sp>
      <p:sp>
        <p:nvSpPr>
          <p:cNvPr id="6" name="Google Shape;769;p71">
            <a:extLst>
              <a:ext uri="{FF2B5EF4-FFF2-40B4-BE49-F238E27FC236}">
                <a16:creationId xmlns:a16="http://schemas.microsoft.com/office/drawing/2014/main" id="{07BE05DF-624B-3E72-9433-E9A170FF78A0}"/>
              </a:ext>
            </a:extLst>
          </p:cNvPr>
          <p:cNvSpPr txBox="1">
            <a:spLocks/>
          </p:cNvSpPr>
          <p:nvPr/>
        </p:nvSpPr>
        <p:spPr>
          <a:xfrm>
            <a:off x="940243" y="1950538"/>
            <a:ext cx="1341881" cy="1189038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hangingPunct="1"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sz="6500" kern="0" dirty="0">
                <a:solidFill>
                  <a:srgbClr val="003B71"/>
                </a:solidFill>
                <a:latin typeface="DM Sans"/>
              </a:rPr>
              <a:t>05</a:t>
            </a:r>
            <a:endParaRPr lang="en-US" altLang="en-US" sz="6500" kern="0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</a:endParaRPr>
          </a:p>
        </p:txBody>
      </p:sp>
      <p:cxnSp>
        <p:nvCxnSpPr>
          <p:cNvPr id="8" name="Google Shape;771;p71">
            <a:extLst>
              <a:ext uri="{FF2B5EF4-FFF2-40B4-BE49-F238E27FC236}">
                <a16:creationId xmlns:a16="http://schemas.microsoft.com/office/drawing/2014/main" id="{FC64AF24-2A50-F1F4-F365-DF25EE096F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Google Shape;772;p71">
            <a:extLst>
              <a:ext uri="{FF2B5EF4-FFF2-40B4-BE49-F238E27FC236}">
                <a16:creationId xmlns:a16="http://schemas.microsoft.com/office/drawing/2014/main" id="{BC2D2A52-B85D-C36B-1E5A-0A2AA65E34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9144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PRINT MEDIA ADVERTISING AND TRADE MAGAZINES FOR TARGETING CONTRACTORS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463550" indent="-285750" algn="just">
              <a:buFont typeface="Wingdings"/>
              <a:buChar char="v"/>
            </a:pPr>
            <a:r>
              <a:rPr lang="en-US" sz="1300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Design Engaging Advertisements</a:t>
            </a:r>
            <a:r>
              <a:rPr lang="en-US" sz="1300" dirty="0">
                <a:latin typeface="Bookman Old Style" panose="02050604050505020204" pitchFamily="18" charset="0"/>
                <a:cs typeface="Arial"/>
              </a:rPr>
              <a:t>​</a:t>
            </a:r>
            <a:endParaRPr lang="en-US" dirty="0">
              <a:latin typeface="Bookman Old Style" panose="02050604050505020204" pitchFamily="18" charset="0"/>
            </a:endParaRPr>
          </a:p>
          <a:p>
            <a:pPr marL="177800" algn="just"/>
            <a:endParaRPr lang="en-US" sz="1300" dirty="0"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"/>
              <a:buChar char="•"/>
            </a:pPr>
            <a:r>
              <a:rPr lang="en-US" sz="1300" b="1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Focus on Pain Points</a:t>
            </a:r>
            <a:r>
              <a:rPr lang="en-US" sz="1300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: Highlight challenges contractors face, like finding leads, managing online reputation, or standing out in a competitive market.</a:t>
            </a:r>
            <a:r>
              <a:rPr lang="en-US" sz="1300" dirty="0">
                <a:latin typeface="Bookman Old Style" panose="02050604050505020204" pitchFamily="18" charset="0"/>
                <a:cs typeface="Arial"/>
              </a:rPr>
              <a:t>​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b="1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Showcase Solutions</a:t>
            </a:r>
            <a:r>
              <a:rPr lang="en-US" sz="1300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: Emphasize how your digital marketing services (e.g., localized SEO, lead generation, or virtual staging) can directly address these needs.</a:t>
            </a:r>
            <a:r>
              <a:rPr lang="en-US" sz="1300" dirty="0">
                <a:latin typeface="Bookman Old Style" panose="02050604050505020204" pitchFamily="18" charset="0"/>
                <a:cs typeface="Arial"/>
              </a:rPr>
              <a:t>​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b="1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Include CTAs</a:t>
            </a:r>
            <a:r>
              <a:rPr lang="en-US" sz="1300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: Ensure a clear call-to-action like "Schedule a Free Consultation" or "Claim Your Free Marketing Audit."</a:t>
            </a:r>
            <a:r>
              <a:rPr lang="en-US" sz="1300" dirty="0">
                <a:latin typeface="Bookman Old Style" panose="02050604050505020204" pitchFamily="18" charset="0"/>
                <a:cs typeface="Arial"/>
              </a:rPr>
              <a:t>​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b="1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Use QR Codes</a:t>
            </a:r>
            <a:r>
              <a:rPr lang="en-US" sz="1300" dirty="0">
                <a:solidFill>
                  <a:srgbClr val="003B71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: Add scannable codes to connect print readers to a landing page or </a:t>
            </a:r>
            <a:r>
              <a:rPr lang="en-US" sz="1300" dirty="0">
                <a:solidFill>
                  <a:srgbClr val="003B71"/>
                </a:solidFill>
                <a:latin typeface="Bookman Old Style" panose="02050604050505020204" pitchFamily="18" charset="0"/>
                <a:cs typeface="Arial"/>
              </a:rPr>
              <a:t>promotional offer.</a:t>
            </a:r>
            <a:r>
              <a:rPr lang="en-US" sz="1300" dirty="0">
                <a:latin typeface="Bookman Old Style" panose="02050604050505020204" pitchFamily="18" charset="0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787312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PRINT MEDIA ADVERTISING AND TRADE MAGAZINES FOR TARGETING CONTRACTORS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463550" indent="-285750" algn="just">
              <a:buFont typeface="Wingdings"/>
              <a:buChar char="v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Feature Case Studies or Testimonials</a:t>
            </a:r>
            <a:endParaRPr lang="en-US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Dedicate ad space to a success story or client testimonial from a contractor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.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Use metrics to show tangible results (e.g., "Increased leads by 50% within 3 months").</a:t>
            </a:r>
          </a:p>
          <a:p>
            <a:pPr marL="635000" lvl="1" algn="just"/>
            <a:endParaRPr lang="en-US" sz="1300" b="1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463550" indent="-285750" algn="just">
              <a:buFont typeface="Wingdings"/>
              <a:buChar char="v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Collaborate on Special Features</a:t>
            </a: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Sponsor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a section in the magazine, such as a "Contractor Spotlight," where you highlight successful contractors and subtly promote your services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.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Co-brand content like "Top Marketing Tips for Home Improvement Professionals."</a:t>
            </a:r>
          </a:p>
        </p:txBody>
      </p:sp>
    </p:spTree>
    <p:extLst>
      <p:ext uri="{BB962C8B-B14F-4D97-AF65-F5344CB8AC3E}">
        <p14:creationId xmlns:p14="http://schemas.microsoft.com/office/powerpoint/2010/main" val="1739935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PARTNER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WITH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LOCAL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CONTRACTOR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ASSOCIATIONS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TO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EXPOSURE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THE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BRAND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TO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THE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POTIENTIAL</a:t>
            </a:r>
            <a:r>
              <a:rPr lang="zh-CN" alt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CLIENT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177800" algn="just"/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463550" indent="-285750" algn="just">
              <a:buFont typeface="Wingdings"/>
              <a:buChar char="v"/>
            </a:pP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Collaborate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with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Local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Marketing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Promotion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Firm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Co-branding Opportunities: Work with Raleigh-based firms to co-develop campaigns or white-label services.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In-demand Services:</a:t>
            </a:r>
          </a:p>
          <a:p>
            <a:pPr marL="1377950" lvl="2" indent="-285750" algn="just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Offer drone photography, SEO optimization, and virtual staging.</a:t>
            </a:r>
          </a:p>
          <a:p>
            <a:pPr marL="1377950" lvl="2" indent="-285750" algn="just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Highlight tailored services for contractors to attract more leads.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Leverage Digital Channels:</a:t>
            </a:r>
          </a:p>
          <a:p>
            <a:pPr marL="1377950" lvl="2" indent="-285750" algn="just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Utilize platforms like Zillow, Facebook Marketplace, and Google Local Ads to amplify reach.</a:t>
            </a:r>
          </a:p>
          <a:p>
            <a:pPr marL="1377950" lvl="2" indent="-285750" algn="just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Run complementary online campaigns targeting the same audience to enhance brand recall.</a:t>
            </a:r>
          </a:p>
        </p:txBody>
      </p:sp>
    </p:spTree>
    <p:extLst>
      <p:ext uri="{BB962C8B-B14F-4D97-AF65-F5344CB8AC3E}">
        <p14:creationId xmlns:p14="http://schemas.microsoft.com/office/powerpoint/2010/main" val="3188744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PRINT MEDIA ADVERTISING AND TRADE MAGAZINES FOR TARGETING CONTRACTORS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463550" indent="-285750" algn="just">
              <a:buFont typeface="Wingdings"/>
              <a:buChar char="v"/>
            </a:pP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Network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with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Contractors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through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the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Association</a:t>
            </a:r>
            <a:endParaRPr lang="en-US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920750" lvl="1" indent="-285750" algn="just">
              <a:buFont typeface="Arial"/>
              <a:buChar char="•"/>
            </a:pP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Build long-term relationships with contractor associations like the North Carolina Association of REALTORS®.</a:t>
            </a:r>
          </a:p>
          <a:p>
            <a:pPr marL="920750" lvl="1" indent="-285750" algn="just">
              <a:buFont typeface="Arial"/>
              <a:buChar char="•"/>
            </a:pP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Leverage the association’s database to identify potential contractors.</a:t>
            </a:r>
          </a:p>
          <a:p>
            <a:pPr marL="920750" lvl="1" indent="-285750" algn="just">
              <a:buFont typeface="Arial"/>
              <a:buChar char="•"/>
            </a:pP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Create targeted campaigns to promote collaborative benefits.</a:t>
            </a:r>
          </a:p>
          <a:p>
            <a:pPr marL="920750" lvl="1" indent="-285750" algn="just">
              <a:buFont typeface="Arial"/>
              <a:buChar char="•"/>
            </a:pP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635000" lvl="1" algn="just"/>
            <a:endParaRPr lang="en-US" sz="1300" b="1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463550" indent="-285750" algn="just">
              <a:buFont typeface="Wingdings"/>
              <a:buChar char="v"/>
            </a:pP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Sponsor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Events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to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Exposure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the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Brand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Host or sponsor contractor expos, community forums, or networking luncheons.</a:t>
            </a: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Provide branded materials or tools to attendees (e.g., guides, brochures).</a:t>
            </a:r>
          </a:p>
          <a:p>
            <a:pPr marL="920750" lvl="1" indent="-285750" algn="just">
              <a:buFont typeface="Arial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Use event sponsorships to build credibility and increase local visibility.</a:t>
            </a:r>
          </a:p>
          <a:p>
            <a:pPr marL="177800" indent="0" algn="just">
              <a:buNone/>
            </a:pPr>
            <a:endParaRPr lang="en-US" sz="1300" dirty="0">
              <a:latin typeface="Bookman Old Style" panose="0205060405050502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5205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EFFECTIVE USE OF PRINT MEDIA ADVERTISING AND TRADE MAGAZINES FOR TARGETING CONTRACTORS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635000" lvl="1" algn="just"/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463550" indent="-285750" algn="just">
              <a:buFont typeface="Wingdings"/>
              <a:buChar char="v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Offer Educational Content</a:t>
            </a:r>
          </a:p>
          <a:p>
            <a:pPr marL="920750" lvl="1" indent="-285750" algn="just">
              <a:buFont typeface="Arial,Sans-Serif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Create mini-guides or how-to articles relevant to contractors (e.g., "How to Use Google Local Ads Effectively")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.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Arial,Sans-Serif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Provide actionable insights to demonstrate expertise and attract interest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.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177800" algn="just"/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463550" indent="-285750" algn="just">
              <a:buFont typeface="Wingdings"/>
              <a:buChar char="v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Combine Print and Digital Efforts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Use print ads to drive traffic to your website or social media through trackable links or QR codes</a:t>
            </a:r>
            <a:r>
              <a:rPr lang="en-US" sz="1300" b="1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.</a:t>
            </a:r>
          </a:p>
          <a:p>
            <a:pPr marL="920750" lvl="1" indent="-285750" algn="just">
              <a:buFont typeface="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Launch complementary online campaigns targeting the same audience to reinforce brand recall.</a:t>
            </a:r>
          </a:p>
        </p:txBody>
      </p:sp>
    </p:spTree>
    <p:extLst>
      <p:ext uri="{BB962C8B-B14F-4D97-AF65-F5344CB8AC3E}">
        <p14:creationId xmlns:p14="http://schemas.microsoft.com/office/powerpoint/2010/main" val="867607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/>
              </a:rPr>
              <a:t>BE THE PARTNER OF LOCAL CONTRACTOR ASSOCIATIONS TO EXPOSE THE BRAND TO THE POTENTIAL CLIENT</a:t>
            </a:r>
            <a:endParaRPr lang="en-US" sz="2000" dirty="0">
              <a:solidFill>
                <a:schemeClr val="tx2"/>
              </a:solidFill>
              <a:latin typeface="Bookman Old Style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920750" lvl="1" indent="-285750" algn="just">
              <a:buFont typeface="Arial"/>
              <a:buChar char="•"/>
            </a:pP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635000" lvl="1" algn="just"/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463550" indent="-285750" algn="just">
              <a:buFont typeface="Wingdings"/>
              <a:buChar char="v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Offer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Free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Marketing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“Deserts”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to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Let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the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Contractors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Know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the</a:t>
            </a:r>
            <a:r>
              <a:rPr lang="zh-CN" alt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 </a:t>
            </a:r>
            <a:r>
              <a:rPr lang="en-US" altLang="zh-CN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Benefits.</a:t>
            </a:r>
            <a:endParaRPr lang="en-US" sz="13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920750" lvl="1" indent="-285750" algn="just">
              <a:buFont typeface="Arial,Sans-Serif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Create customized digital marketing toolkits for contractors to enhance their outreach efforts.</a:t>
            </a:r>
          </a:p>
          <a:p>
            <a:pPr marL="920750" lvl="1" indent="-285750" algn="just">
              <a:buFont typeface="Arial,Sans-Serif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Include resources such as website templates, social media strategies, and advertising guides.</a:t>
            </a:r>
          </a:p>
          <a:p>
            <a:pPr marL="920750" lvl="1" indent="-285750" algn="just">
              <a:buFont typeface="Arial,Sans-Serif"/>
              <a:buChar char="•"/>
            </a:pPr>
            <a:r>
              <a:rPr lang="en-US" sz="13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Showcase real-life success stories to demonstrate value.</a:t>
            </a:r>
          </a:p>
        </p:txBody>
      </p:sp>
    </p:spTree>
    <p:extLst>
      <p:ext uri="{BB962C8B-B14F-4D97-AF65-F5344CB8AC3E}">
        <p14:creationId xmlns:p14="http://schemas.microsoft.com/office/powerpoint/2010/main" val="3472351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68;p71">
            <a:extLst>
              <a:ext uri="{FF2B5EF4-FFF2-40B4-BE49-F238E27FC236}">
                <a16:creationId xmlns:a16="http://schemas.microsoft.com/office/drawing/2014/main" id="{3028C8AE-977F-7E8A-A323-DFFB78D6015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283980" y="1797050"/>
            <a:ext cx="4927311" cy="1344324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3B71"/>
                </a:solidFill>
                <a:latin typeface="Lora"/>
                <a:sym typeface="Lora" pitchFamily="2" charset="0"/>
              </a:rPr>
              <a:t>TRACKING ROI</a:t>
            </a:r>
            <a:endParaRPr lang="en-US" dirty="0"/>
          </a:p>
        </p:txBody>
      </p:sp>
      <p:cxnSp>
        <p:nvCxnSpPr>
          <p:cNvPr id="8" name="Google Shape;771;p71">
            <a:extLst>
              <a:ext uri="{FF2B5EF4-FFF2-40B4-BE49-F238E27FC236}">
                <a16:creationId xmlns:a16="http://schemas.microsoft.com/office/drawing/2014/main" id="{FC64AF24-2A50-F1F4-F365-DF25EE096F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Google Shape;772;p71">
            <a:extLst>
              <a:ext uri="{FF2B5EF4-FFF2-40B4-BE49-F238E27FC236}">
                <a16:creationId xmlns:a16="http://schemas.microsoft.com/office/drawing/2014/main" id="{BC2D2A52-B85D-C36B-1E5A-0A2AA65E34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005905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Tracking ROI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641350" lvl="1" indent="-285750" algn="just"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  <a:cs typeface="Arial"/>
              </a:rPr>
              <a:t>Ensure ROI tracking to understand the effectiveness of marketing and advertising</a:t>
            </a:r>
            <a:endParaRPr lang="en-US" dirty="0"/>
          </a:p>
          <a:p>
            <a:pPr marL="641350" lvl="1" indent="-285750" algn="just">
              <a:buFont typeface="Arial"/>
              <a:buChar char="•"/>
            </a:pPr>
            <a:endParaRPr lang="en-US" sz="18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marL="641350" lvl="1" indent="-285750" algn="just">
              <a:buFont typeface="Arial"/>
              <a:buChar char="•"/>
            </a:pPr>
            <a:endParaRPr lang="en-US" sz="18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  <a:p>
            <a:pPr marL="641350" lvl="1" indent="-285750" algn="just"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We recommend you track in the following ways</a:t>
            </a:r>
            <a:endParaRPr lang="en-US" sz="18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41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362AC9-B74C-3C43-03B2-0848A007F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362757"/>
              </p:ext>
            </p:extLst>
          </p:nvPr>
        </p:nvGraphicFramePr>
        <p:xfrm>
          <a:off x="945102" y="569533"/>
          <a:ext cx="7075022" cy="3977820"/>
        </p:xfrm>
        <a:graphic>
          <a:graphicData uri="http://schemas.openxmlformats.org/drawingml/2006/table">
            <a:tbl>
              <a:tblPr firstRow="1" bandRow="1">
                <a:tableStyleId>{9F96B03E-4681-4BA5-9B92-FE9AE09768B3}</a:tableStyleId>
              </a:tblPr>
              <a:tblGrid>
                <a:gridCol w="737886">
                  <a:extLst>
                    <a:ext uri="{9D8B030D-6E8A-4147-A177-3AD203B41FA5}">
                      <a16:colId xmlns:a16="http://schemas.microsoft.com/office/drawing/2014/main" val="1898494038"/>
                    </a:ext>
                  </a:extLst>
                </a:gridCol>
                <a:gridCol w="2806858">
                  <a:extLst>
                    <a:ext uri="{9D8B030D-6E8A-4147-A177-3AD203B41FA5}">
                      <a16:colId xmlns:a16="http://schemas.microsoft.com/office/drawing/2014/main" val="2418962566"/>
                    </a:ext>
                  </a:extLst>
                </a:gridCol>
                <a:gridCol w="3530278">
                  <a:extLst>
                    <a:ext uri="{9D8B030D-6E8A-4147-A177-3AD203B41FA5}">
                      <a16:colId xmlns:a16="http://schemas.microsoft.com/office/drawing/2014/main" val="348253335"/>
                    </a:ext>
                  </a:extLst>
                </a:gridCol>
              </a:tblGrid>
              <a:tr h="77742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SUGGESTED ROI TRACKING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600954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Re-seller Partnerships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Track new client acquisitions linked to partnerships.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Measure revenue per partnership against incentives provided.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unique codes or discounts for clients brought in through partnerships.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03909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Referrals &amp; Word of Mouth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Implement a referral program with unique codes to identify customers brought through referrals.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customer feedback surveys to ask how they heard about the company.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830450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Personal Connections &amp; Networking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a CRM to log clients sourced through networking events.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Track conversion rates for leads generated via business meetings or events like BNI or Chambers</a:t>
                      </a:r>
                      <a:r>
                        <a:rPr lang="en-US" sz="1200" b="0" i="0" u="none" strike="noStrike" noProof="0" dirty="0">
                          <a:latin typeface="Lora"/>
                        </a:rPr>
                        <a:t>.</a:t>
                      </a:r>
                      <a:endParaRPr lang="en-US" sz="1200" dirty="0"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68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304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347EFC-687A-9BB8-FDFD-4A99286B2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47737"/>
              </p:ext>
            </p:extLst>
          </p:nvPr>
        </p:nvGraphicFramePr>
        <p:xfrm>
          <a:off x="945102" y="569533"/>
          <a:ext cx="7075022" cy="3977820"/>
        </p:xfrm>
        <a:graphic>
          <a:graphicData uri="http://schemas.openxmlformats.org/drawingml/2006/table">
            <a:tbl>
              <a:tblPr firstRow="1" bandRow="1">
                <a:tableStyleId>{9F96B03E-4681-4BA5-9B92-FE9AE09768B3}</a:tableStyleId>
              </a:tblPr>
              <a:tblGrid>
                <a:gridCol w="737886">
                  <a:extLst>
                    <a:ext uri="{9D8B030D-6E8A-4147-A177-3AD203B41FA5}">
                      <a16:colId xmlns:a16="http://schemas.microsoft.com/office/drawing/2014/main" val="1898494038"/>
                    </a:ext>
                  </a:extLst>
                </a:gridCol>
                <a:gridCol w="2806858">
                  <a:extLst>
                    <a:ext uri="{9D8B030D-6E8A-4147-A177-3AD203B41FA5}">
                      <a16:colId xmlns:a16="http://schemas.microsoft.com/office/drawing/2014/main" val="2418962566"/>
                    </a:ext>
                  </a:extLst>
                </a:gridCol>
                <a:gridCol w="3530278">
                  <a:extLst>
                    <a:ext uri="{9D8B030D-6E8A-4147-A177-3AD203B41FA5}">
                      <a16:colId xmlns:a16="http://schemas.microsoft.com/office/drawing/2014/main" val="348253335"/>
                    </a:ext>
                  </a:extLst>
                </a:gridCol>
              </a:tblGrid>
              <a:tr h="77742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SUGGESTED ROI TRACKING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600954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SEO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tools like Google Analytics and SEMrush to monitor organic traffic growth.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Track lead conversions on landing pages optimized for SEO keywords.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03909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Paid Ads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Set up conversion tracking in Google Ads and Meta Ads Manager.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Track CPC (Cost Per Click), CPA (Cost Per Acquisition), and total ROAS (Return on Ad Spend).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A/B testing to optimize campaigns and maximize ROI.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830450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LinkedIn (Posts and Outreach)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LinkedIn Analytics to track engagement, profile views, and clicks on posts.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Measure conversions from LinkedIn campaigns by tracking leads from outreach messages using CRM.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68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4596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0396E8-C80B-6A7E-A868-DAF84E37F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7564"/>
              </p:ext>
            </p:extLst>
          </p:nvPr>
        </p:nvGraphicFramePr>
        <p:xfrm>
          <a:off x="945102" y="569533"/>
          <a:ext cx="7075022" cy="4435020"/>
        </p:xfrm>
        <a:graphic>
          <a:graphicData uri="http://schemas.openxmlformats.org/drawingml/2006/table">
            <a:tbl>
              <a:tblPr firstRow="1" bandRow="1">
                <a:tableStyleId>{9F96B03E-4681-4BA5-9B92-FE9AE09768B3}</a:tableStyleId>
              </a:tblPr>
              <a:tblGrid>
                <a:gridCol w="737886">
                  <a:extLst>
                    <a:ext uri="{9D8B030D-6E8A-4147-A177-3AD203B41FA5}">
                      <a16:colId xmlns:a16="http://schemas.microsoft.com/office/drawing/2014/main" val="1898494038"/>
                    </a:ext>
                  </a:extLst>
                </a:gridCol>
                <a:gridCol w="2806858">
                  <a:extLst>
                    <a:ext uri="{9D8B030D-6E8A-4147-A177-3AD203B41FA5}">
                      <a16:colId xmlns:a16="http://schemas.microsoft.com/office/drawing/2014/main" val="2418962566"/>
                    </a:ext>
                  </a:extLst>
                </a:gridCol>
                <a:gridCol w="3530278">
                  <a:extLst>
                    <a:ext uri="{9D8B030D-6E8A-4147-A177-3AD203B41FA5}">
                      <a16:colId xmlns:a16="http://schemas.microsoft.com/office/drawing/2014/main" val="348253335"/>
                    </a:ext>
                  </a:extLst>
                </a:gridCol>
              </a:tblGrid>
              <a:tr h="77742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Lora"/>
                        </a:rPr>
                        <a:t>SUGGESTED ROI TRACKING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600954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Telemarketing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Log calls in CRM and track call-to-lead and call-to-sale conversion rates.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Measure the ROI of telemarketing by comparing revenue generated to call center costs.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03909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Trade Shows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platform-specific analytics (Meta, Twitter, Instagram) to track post engagement, clicks, and traffic.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Measure social media-driven leads in CRM to calculate ROI.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830450"/>
                  </a:ext>
                </a:extLst>
              </a:tr>
              <a:tr h="7774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Walk-ins, Door Knocking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tracking forms or customer intake forms to attribute leads to these channels.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Measure conversion rates and the average value of leads acquired through offline efforts.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68420"/>
                  </a:ext>
                </a:extLst>
              </a:tr>
              <a:tr h="777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Lora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Online Webinars/Presentations</a:t>
                      </a:r>
                      <a:endParaRPr lang="en-US" sz="1200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Use webinar tools like Zoom or Demio to track registration and attendance.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latin typeface="Lora"/>
                        </a:rPr>
                        <a:t>Monitor conversions post-webinar via follow-up emails or campaigns.</a:t>
                      </a:r>
                      <a:endParaRPr lang="en-US" dirty="0">
                        <a:solidFill>
                          <a:schemeClr val="tx2"/>
                        </a:solidFill>
                        <a:latin typeface="Lor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303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839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68;p71">
            <a:extLst>
              <a:ext uri="{FF2B5EF4-FFF2-40B4-BE49-F238E27FC236}">
                <a16:creationId xmlns:a16="http://schemas.microsoft.com/office/drawing/2014/main" id="{3028C8AE-977F-7E8A-A323-DFFB78D6015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323375" y="1494542"/>
            <a:ext cx="4927311" cy="1344324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3B71"/>
                </a:solidFill>
                <a:latin typeface="Lora"/>
                <a:sym typeface="Lora" pitchFamily="2" charset="0"/>
              </a:rPr>
              <a:t>FINANCIAL MODEL &amp; BUDGET PLANNING</a:t>
            </a:r>
            <a:endParaRPr lang="en-US" altLang="en-US" sz="4000" dirty="0">
              <a:solidFill>
                <a:srgbClr val="003B71"/>
              </a:solidFill>
              <a:latin typeface="Lora"/>
            </a:endParaRPr>
          </a:p>
        </p:txBody>
      </p:sp>
      <p:sp>
        <p:nvSpPr>
          <p:cNvPr id="6" name="Google Shape;769;p71">
            <a:extLst>
              <a:ext uri="{FF2B5EF4-FFF2-40B4-BE49-F238E27FC236}">
                <a16:creationId xmlns:a16="http://schemas.microsoft.com/office/drawing/2014/main" id="{07BE05DF-624B-3E72-9433-E9A170FF78A0}"/>
              </a:ext>
            </a:extLst>
          </p:cNvPr>
          <p:cNvSpPr txBox="1">
            <a:spLocks/>
          </p:cNvSpPr>
          <p:nvPr/>
        </p:nvSpPr>
        <p:spPr>
          <a:xfrm>
            <a:off x="940243" y="1950538"/>
            <a:ext cx="1341881" cy="1189038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hangingPunct="1"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sz="6500" kern="0" dirty="0">
                <a:solidFill>
                  <a:srgbClr val="003B71"/>
                </a:solidFill>
                <a:latin typeface="DM Sans"/>
              </a:rPr>
              <a:t>06</a:t>
            </a:r>
            <a:endParaRPr lang="en-US" altLang="en-US" sz="6500" kern="0" dirty="0">
              <a:solidFill>
                <a:srgbClr val="003B71"/>
              </a:solidFill>
              <a:latin typeface="DM Sans" pitchFamily="2" charset="0"/>
              <a:cs typeface="Arial" panose="020B0604020202020204" pitchFamily="34" charset="0"/>
            </a:endParaRPr>
          </a:p>
        </p:txBody>
      </p:sp>
      <p:cxnSp>
        <p:nvCxnSpPr>
          <p:cNvPr id="8" name="Google Shape;771;p71">
            <a:extLst>
              <a:ext uri="{FF2B5EF4-FFF2-40B4-BE49-F238E27FC236}">
                <a16:creationId xmlns:a16="http://schemas.microsoft.com/office/drawing/2014/main" id="{FC64AF24-2A50-F1F4-F365-DF25EE096F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Google Shape;772;p71">
            <a:extLst>
              <a:ext uri="{FF2B5EF4-FFF2-40B4-BE49-F238E27FC236}">
                <a16:creationId xmlns:a16="http://schemas.microsoft.com/office/drawing/2014/main" id="{BC2D2A52-B85D-C36B-1E5A-0A2AA65E34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690684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Google Shape;1025;p85">
            <a:extLst>
              <a:ext uri="{FF2B5EF4-FFF2-40B4-BE49-F238E27FC236}">
                <a16:creationId xmlns:a16="http://schemas.microsoft.com/office/drawing/2014/main" id="{A8CD7DE0-CD87-03B2-5928-902B77FEB9C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FINANCIAL MODEL</a:t>
            </a:r>
          </a:p>
        </p:txBody>
      </p:sp>
      <p:cxnSp>
        <p:nvCxnSpPr>
          <p:cNvPr id="125955" name="Google Shape;1026;p85">
            <a:extLst>
              <a:ext uri="{FF2B5EF4-FFF2-40B4-BE49-F238E27FC236}">
                <a16:creationId xmlns:a16="http://schemas.microsoft.com/office/drawing/2014/main" id="{FB443967-C5A8-4664-69D8-A182099B5A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86250" y="769938"/>
            <a:ext cx="4144963" cy="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231C79-304E-58E8-8907-6617B29FF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42933"/>
              </p:ext>
            </p:extLst>
          </p:nvPr>
        </p:nvGraphicFramePr>
        <p:xfrm>
          <a:off x="1084481" y="1168977"/>
          <a:ext cx="5808946" cy="1211694"/>
        </p:xfrm>
        <a:graphic>
          <a:graphicData uri="http://schemas.openxmlformats.org/drawingml/2006/table">
            <a:tbl>
              <a:tblPr bandRow="1">
                <a:tableStyleId>{9F96B03E-4681-4BA5-9B92-FE9AE09768B3}</a:tableStyleId>
              </a:tblPr>
              <a:tblGrid>
                <a:gridCol w="1794319">
                  <a:extLst>
                    <a:ext uri="{9D8B030D-6E8A-4147-A177-3AD203B41FA5}">
                      <a16:colId xmlns:a16="http://schemas.microsoft.com/office/drawing/2014/main" val="3354709184"/>
                    </a:ext>
                  </a:extLst>
                </a:gridCol>
                <a:gridCol w="864887">
                  <a:extLst>
                    <a:ext uri="{9D8B030D-6E8A-4147-A177-3AD203B41FA5}">
                      <a16:colId xmlns:a16="http://schemas.microsoft.com/office/drawing/2014/main" val="3013352659"/>
                    </a:ext>
                  </a:extLst>
                </a:gridCol>
                <a:gridCol w="787435">
                  <a:extLst>
                    <a:ext uri="{9D8B030D-6E8A-4147-A177-3AD203B41FA5}">
                      <a16:colId xmlns:a16="http://schemas.microsoft.com/office/drawing/2014/main" val="3567872702"/>
                    </a:ext>
                  </a:extLst>
                </a:gridCol>
                <a:gridCol w="787435">
                  <a:extLst>
                    <a:ext uri="{9D8B030D-6E8A-4147-A177-3AD203B41FA5}">
                      <a16:colId xmlns:a16="http://schemas.microsoft.com/office/drawing/2014/main" val="1243431195"/>
                    </a:ext>
                  </a:extLst>
                </a:gridCol>
                <a:gridCol w="787435">
                  <a:extLst>
                    <a:ext uri="{9D8B030D-6E8A-4147-A177-3AD203B41FA5}">
                      <a16:colId xmlns:a16="http://schemas.microsoft.com/office/drawing/2014/main" val="691642180"/>
                    </a:ext>
                  </a:extLst>
                </a:gridCol>
                <a:gridCol w="787435">
                  <a:extLst>
                    <a:ext uri="{9D8B030D-6E8A-4147-A177-3AD203B41FA5}">
                      <a16:colId xmlns:a16="http://schemas.microsoft.com/office/drawing/2014/main" val="2885822557"/>
                    </a:ext>
                  </a:extLst>
                </a:gridCol>
              </a:tblGrid>
              <a:tr h="2307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Summary Analysis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FY2025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FY2026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FY2027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FY2028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FY2029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16785"/>
                  </a:ext>
                </a:extLst>
              </a:tr>
              <a:tr h="230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Revenue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435,471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500,791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575,910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662,297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761,641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128748"/>
                  </a:ext>
                </a:extLst>
              </a:tr>
              <a:tr h="2596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Costs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304,830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350,554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403,137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463,608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533,149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765628"/>
                  </a:ext>
                </a:extLst>
              </a:tr>
              <a:tr h="230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Gross Profit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130,641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150,237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172,773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198,689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228,492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45363"/>
                  </a:ext>
                </a:extLst>
              </a:tr>
              <a:tr h="2596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Net Profit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30,641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50,237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72,773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198,689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228,492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0441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101D27-277E-E40F-F087-9D7F09D3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233477"/>
              </p:ext>
            </p:extLst>
          </p:nvPr>
        </p:nvGraphicFramePr>
        <p:xfrm>
          <a:off x="1084481" y="2757965"/>
          <a:ext cx="5777522" cy="952500"/>
        </p:xfrm>
        <a:graphic>
          <a:graphicData uri="http://schemas.openxmlformats.org/drawingml/2006/table">
            <a:tbl>
              <a:tblPr bandRow="1">
                <a:tableStyleId>{9F96B03E-4681-4BA5-9B92-FE9AE09768B3}</a:tableStyleId>
              </a:tblPr>
              <a:tblGrid>
                <a:gridCol w="3898425">
                  <a:extLst>
                    <a:ext uri="{9D8B030D-6E8A-4147-A177-3AD203B41FA5}">
                      <a16:colId xmlns:a16="http://schemas.microsoft.com/office/drawing/2014/main" val="3268216368"/>
                    </a:ext>
                  </a:extLst>
                </a:gridCol>
                <a:gridCol w="1879097">
                  <a:extLst>
                    <a:ext uri="{9D8B030D-6E8A-4147-A177-3AD203B41FA5}">
                      <a16:colId xmlns:a16="http://schemas.microsoft.com/office/drawing/2014/main" val="19253938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Investment Analysis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Totals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762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Net Present Value (NPV)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301,633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8694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Internal Rate of Return (IRR)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364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Payback Period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 Year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91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Return on Investment (ROI)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2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4330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45F97-08E0-E349-D38C-57265B781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733" y="731375"/>
            <a:ext cx="5138088" cy="347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982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Google Shape;1032;p86">
            <a:extLst>
              <a:ext uri="{FF2B5EF4-FFF2-40B4-BE49-F238E27FC236}">
                <a16:creationId xmlns:a16="http://schemas.microsoft.com/office/drawing/2014/main" id="{2B410A2E-16DB-007B-2830-8A9A3DC13A2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FINANCIAL MODEL</a:t>
            </a:r>
          </a:p>
        </p:txBody>
      </p:sp>
      <p:cxnSp>
        <p:nvCxnSpPr>
          <p:cNvPr id="128003" name="Google Shape;1033;p86">
            <a:extLst>
              <a:ext uri="{FF2B5EF4-FFF2-40B4-BE49-F238E27FC236}">
                <a16:creationId xmlns:a16="http://schemas.microsoft.com/office/drawing/2014/main" id="{0AF5C11E-A868-7A40-1CA1-CD7FE72D97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86250" y="769938"/>
            <a:ext cx="4144963" cy="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 descr="A blue rectangles with numbers and a white background&#10;&#10;Description automatically generated">
            <a:extLst>
              <a:ext uri="{FF2B5EF4-FFF2-40B4-BE49-F238E27FC236}">
                <a16:creationId xmlns:a16="http://schemas.microsoft.com/office/drawing/2014/main" id="{DAE73AB6-AC27-007A-6649-96380D41E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96" y="2017363"/>
            <a:ext cx="4045255" cy="2432529"/>
          </a:xfrm>
          <a:prstGeom prst="rect">
            <a:avLst/>
          </a:prstGeom>
        </p:spPr>
      </p:pic>
      <p:pic>
        <p:nvPicPr>
          <p:cNvPr id="4" name="Picture 3" descr="A graph showing the results of a case&#10;&#10;Description automatically generated">
            <a:extLst>
              <a:ext uri="{FF2B5EF4-FFF2-40B4-BE49-F238E27FC236}">
                <a16:creationId xmlns:a16="http://schemas.microsoft.com/office/drawing/2014/main" id="{2C937295-B542-F0D4-6495-62F62BB3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682" y="1026082"/>
            <a:ext cx="4054780" cy="243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88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Google Shape;968;p82">
            <a:extLst>
              <a:ext uri="{FF2B5EF4-FFF2-40B4-BE49-F238E27FC236}">
                <a16:creationId xmlns:a16="http://schemas.microsoft.com/office/drawing/2014/main" id="{2A57DF6D-9AE3-BC50-A200-EF8AC8671532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73149" y="833438"/>
            <a:ext cx="6575401" cy="3476625"/>
          </a:xfrm>
        </p:spPr>
        <p:txBody>
          <a:bodyPr/>
          <a:lstStyle/>
          <a:p>
            <a:pPr algn="l"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</a:pP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  <a:t>$100,000 budget designed to ensure a strong market entry in Raleigh's competitive digital marketing sector. </a:t>
            </a:r>
            <a:b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</a:br>
            <a:b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  <a:t>Our plan </a:t>
            </a: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  <a:ea typeface="+mn-ea"/>
              </a:rPr>
              <a:t>emphasizes</a:t>
            </a: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  <a:t> building a </a:t>
            </a:r>
            <a:r>
              <a:rPr lang="en-US" sz="1800" u="sng" dirty="0">
                <a:solidFill>
                  <a:schemeClr val="tx2"/>
                </a:solidFill>
                <a:latin typeface="Bookman Old Style" panose="02050604050505020204" pitchFamily="18" charset="0"/>
              </a:rPr>
              <a:t>skilled team</a:t>
            </a: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  <a:t>, </a:t>
            </a:r>
            <a:r>
              <a:rPr lang="en-US" sz="1800" u="sng" dirty="0">
                <a:solidFill>
                  <a:schemeClr val="tx2"/>
                </a:solidFill>
                <a:latin typeface="Bookman Old Style" panose="02050604050505020204" pitchFamily="18" charset="0"/>
              </a:rPr>
              <a:t>establishing a functional presence</a:t>
            </a: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  <a:t>, and driving impactful </a:t>
            </a:r>
            <a:r>
              <a:rPr lang="en-US" sz="1800" u="sng" dirty="0">
                <a:solidFill>
                  <a:schemeClr val="tx2"/>
                </a:solidFill>
                <a:latin typeface="Bookman Old Style" panose="02050604050505020204" pitchFamily="18" charset="0"/>
              </a:rPr>
              <a:t>marketing efforts</a:t>
            </a:r>
            <a: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  <a:t>.</a:t>
            </a:r>
            <a:br>
              <a:rPr lang="en-US" sz="1800" dirty="0">
                <a:solidFill>
                  <a:schemeClr val="tx2"/>
                </a:solidFill>
                <a:latin typeface="Bookman Old Style" panose="02050604050505020204" pitchFamily="18" charset="0"/>
              </a:rPr>
            </a:br>
            <a:endParaRPr lang="en-US" altLang="en-US" sz="1800" dirty="0">
              <a:solidFill>
                <a:schemeClr val="tx2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sp>
        <p:nvSpPr>
          <p:cNvPr id="2" name="Google Shape;847;p75">
            <a:extLst>
              <a:ext uri="{FF2B5EF4-FFF2-40B4-BE49-F238E27FC236}">
                <a16:creationId xmlns:a16="http://schemas.microsoft.com/office/drawing/2014/main" id="{AE64E9B2-B3D7-CC55-55F9-199FE6B6F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91797" y="334497"/>
            <a:ext cx="770255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91425" rIns="91425" bIns="91425" numCol="1" anchor="ctr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ctr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None/>
              <a:defRPr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20204" pitchFamily="34" charset="0"/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20204" pitchFamily="34" charset="0"/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20204" pitchFamily="34" charset="0"/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20204" pitchFamily="34" charset="0"/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sz="2800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BUDGET PLANNING</a:t>
            </a:r>
            <a:endParaRPr lang="en-US" altLang="en-US" sz="2800" kern="0" dirty="0">
              <a:solidFill>
                <a:srgbClr val="003B71"/>
              </a:solidFill>
              <a:latin typeface="Bookman Old Style" panose="02050604050505020204" pitchFamily="18" charset="0"/>
              <a:cs typeface="Arial" panose="020B0604020202020204" pitchFamily="34" charset="0"/>
              <a:sym typeface="Bookman Old Style" panose="02050604050505020204" pitchFamily="18" charset="0"/>
            </a:endParaRPr>
          </a:p>
        </p:txBody>
      </p:sp>
      <p:cxnSp>
        <p:nvCxnSpPr>
          <p:cNvPr id="5" name="Google Shape;1033;p86">
            <a:extLst>
              <a:ext uri="{FF2B5EF4-FFF2-40B4-BE49-F238E27FC236}">
                <a16:creationId xmlns:a16="http://schemas.microsoft.com/office/drawing/2014/main" id="{0E2964BF-0899-FAA8-521D-9349A7AD8F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38271" y="671966"/>
            <a:ext cx="4144963" cy="0"/>
          </a:xfrm>
          <a:prstGeom prst="straightConnector1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643909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16282ED-317B-DF6C-B651-692DBC00E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42695"/>
              </p:ext>
            </p:extLst>
          </p:nvPr>
        </p:nvGraphicFramePr>
        <p:xfrm>
          <a:off x="-124691" y="665410"/>
          <a:ext cx="4696691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CA7665-D88F-A296-5EAE-E7064DE8C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84207"/>
              </p:ext>
            </p:extLst>
          </p:nvPr>
        </p:nvGraphicFramePr>
        <p:xfrm>
          <a:off x="4778334" y="665410"/>
          <a:ext cx="4172817" cy="38404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390939">
                  <a:extLst>
                    <a:ext uri="{9D8B030D-6E8A-4147-A177-3AD203B41FA5}">
                      <a16:colId xmlns:a16="http://schemas.microsoft.com/office/drawing/2014/main" val="388293061"/>
                    </a:ext>
                  </a:extLst>
                </a:gridCol>
                <a:gridCol w="1390939">
                  <a:extLst>
                    <a:ext uri="{9D8B030D-6E8A-4147-A177-3AD203B41FA5}">
                      <a16:colId xmlns:a16="http://schemas.microsoft.com/office/drawing/2014/main" val="1736448498"/>
                    </a:ext>
                  </a:extLst>
                </a:gridCol>
                <a:gridCol w="1390939">
                  <a:extLst>
                    <a:ext uri="{9D8B030D-6E8A-4147-A177-3AD203B41FA5}">
                      <a16:colId xmlns:a16="http://schemas.microsoft.com/office/drawing/2014/main" val="3615296611"/>
                    </a:ext>
                  </a:extLst>
                </a:gridCol>
              </a:tblGrid>
              <a:tr h="23635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Category</a:t>
                      </a:r>
                      <a:endParaRPr lang="en-US" sz="1200" dirty="0">
                        <a:solidFill>
                          <a:schemeClr val="tx2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Subcategory</a:t>
                      </a:r>
                      <a:endParaRPr lang="en-US" sz="1200" dirty="0">
                        <a:solidFill>
                          <a:schemeClr val="tx2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Budget</a:t>
                      </a:r>
                      <a:endParaRPr lang="en-US" sz="1200" dirty="0">
                        <a:solidFill>
                          <a:schemeClr val="tx2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551136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Business Setup &amp; Legal Fees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Registration, Legal Consultation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262612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Office Space &amp; Utilities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Lease, Utilities, 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623222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Technology &amp;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Essential Hardware/Software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$3,000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178510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Staffing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Salaries,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$47,000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413255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Marketing &amp; Advertising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Website, Online 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80442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Miscellaneous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Insurance, Contingency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084446"/>
                  </a:ext>
                </a:extLst>
              </a:tr>
              <a:tr h="236357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Business Travel &amp; Logistics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Travel Coordination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Bookman Old Style" panose="02050604050505020204" pitchFamily="18" charset="0"/>
                        </a:rPr>
                        <a:t>$5,000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89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718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Google Shape;1197;p95">
            <a:extLst>
              <a:ext uri="{FF2B5EF4-FFF2-40B4-BE49-F238E27FC236}">
                <a16:creationId xmlns:a16="http://schemas.microsoft.com/office/drawing/2014/main" id="{F46F8A60-B0F7-EC59-3903-F192A474FF9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16082" y="344820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chemeClr val="tx2"/>
                </a:solidFill>
                <a:latin typeface="Bookman Old Style" panose="02050604050505020204" pitchFamily="18" charset="0"/>
              </a:rPr>
              <a:t>Key Priorities and Justification</a:t>
            </a:r>
          </a:p>
        </p:txBody>
      </p:sp>
      <p:sp>
        <p:nvSpPr>
          <p:cNvPr id="1198" name="Google Shape;1198;p95">
            <a:extLst>
              <a:ext uri="{FF2B5EF4-FFF2-40B4-BE49-F238E27FC236}">
                <a16:creationId xmlns:a16="http://schemas.microsoft.com/office/drawing/2014/main" id="{A53404FD-79FE-D75B-5410-F817C3769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725" y="1303245"/>
            <a:ext cx="7702550" cy="2497137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</a:rPr>
              <a:t> Strategic staffing allocation ensures service quality.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</a:rPr>
              <a:t> Focused marketing to build brand awareness and acquire clients.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</a:rPr>
              <a:t> Efficient use of resources from Canada’s main office minimizes technology costs.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</a:rPr>
              <a:t> Business travel ensures seamless coordination between locations.</a:t>
            </a:r>
          </a:p>
          <a:p>
            <a:pPr marL="177800" indent="0" algn="just">
              <a:lnSpc>
                <a:spcPct val="200000"/>
              </a:lnSpc>
              <a:buNone/>
            </a:pPr>
            <a:endParaRPr lang="en-US" sz="1200" dirty="0">
              <a:solidFill>
                <a:schemeClr val="tx2"/>
              </a:solidFill>
              <a:highlight>
                <a:srgbClr val="FFFFFF"/>
              </a:highlight>
              <a:latin typeface="Bookman Old Style" panose="0205060405050502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0969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768;p71">
            <a:extLst>
              <a:ext uri="{FF2B5EF4-FFF2-40B4-BE49-F238E27FC236}">
                <a16:creationId xmlns:a16="http://schemas.microsoft.com/office/drawing/2014/main" id="{C01FACAE-0867-1F81-86D1-52B990B0422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283980" y="1797050"/>
            <a:ext cx="4927311" cy="1344324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SzPts val="1100"/>
            </a:pPr>
            <a:r>
              <a:rPr lang="en-US" altLang="en-US" dirty="0">
                <a:solidFill>
                  <a:srgbClr val="003B71"/>
                </a:solidFill>
                <a:cs typeface="Arial"/>
                <a:sym typeface="Lora" pitchFamily="2" charset="0"/>
              </a:rPr>
              <a:t>RISKS</a:t>
            </a:r>
            <a:endParaRPr lang="en-US" altLang="en-US" dirty="0">
              <a:solidFill>
                <a:srgbClr val="003B71"/>
              </a:solidFill>
              <a:latin typeface="Lora" pitchFamily="2" charset="0"/>
              <a:cs typeface="Arial" panose="020B0604020202020204" pitchFamily="34" charset="0"/>
            </a:endParaRPr>
          </a:p>
        </p:txBody>
      </p:sp>
      <p:sp>
        <p:nvSpPr>
          <p:cNvPr id="97283" name="Google Shape;769;p71">
            <a:extLst>
              <a:ext uri="{FF2B5EF4-FFF2-40B4-BE49-F238E27FC236}">
                <a16:creationId xmlns:a16="http://schemas.microsoft.com/office/drawing/2014/main" id="{3789675F-CCE0-E871-404B-689FEE7BA7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30274" y="1874116"/>
            <a:ext cx="1353705" cy="1189038"/>
          </a:xfrm>
          <a:ln>
            <a:noFill/>
          </a:ln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dirty="0">
                <a:solidFill>
                  <a:srgbClr val="003B71"/>
                </a:solidFill>
                <a:latin typeface="DM Sans" pitchFamily="2" charset="0"/>
                <a:cs typeface="Arial" panose="020B0604020202020204" pitchFamily="34" charset="0"/>
                <a:sym typeface="DM Sans" pitchFamily="2" charset="0"/>
              </a:rPr>
              <a:t>07</a:t>
            </a:r>
          </a:p>
        </p:txBody>
      </p:sp>
      <p:cxnSp>
        <p:nvCxnSpPr>
          <p:cNvPr id="97285" name="Google Shape;771;p71">
            <a:extLst>
              <a:ext uri="{FF2B5EF4-FFF2-40B4-BE49-F238E27FC236}">
                <a16:creationId xmlns:a16="http://schemas.microsoft.com/office/drawing/2014/main" id="{57DF5652-1EB7-DAA8-0BC7-7808E79CA8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-9525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86" name="Google Shape;772;p71">
            <a:extLst>
              <a:ext uri="{FF2B5EF4-FFF2-40B4-BE49-F238E27FC236}">
                <a16:creationId xmlns:a16="http://schemas.microsoft.com/office/drawing/2014/main" id="{4B594F3E-3B73-6D4A-2E25-DB26F165C6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3900" y="3905250"/>
            <a:ext cx="0" cy="1238250"/>
          </a:xfrm>
          <a:prstGeom prst="straightConnector1">
            <a:avLst/>
          </a:prstGeom>
          <a:noFill/>
          <a:ln w="9525">
            <a:solidFill>
              <a:srgbClr val="003B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529932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97;p95">
            <a:extLst>
              <a:ext uri="{FF2B5EF4-FFF2-40B4-BE49-F238E27FC236}">
                <a16:creationId xmlns:a16="http://schemas.microsoft.com/office/drawing/2014/main" id="{7DCA076D-C9F9-A937-7AB1-91E4C9C26AF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49308" y="265455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chemeClr val="tx2"/>
                </a:solidFill>
                <a:latin typeface="Bookman Old Style" panose="02050604050505020204" pitchFamily="18" charset="0"/>
              </a:rPr>
              <a:t>RISKS</a:t>
            </a:r>
            <a:endParaRPr lang="en-US" sz="2000" b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F9799-25B8-7B01-550E-75DF53C93D25}"/>
              </a:ext>
            </a:extLst>
          </p:cNvPr>
          <p:cNvSpPr txBox="1"/>
          <p:nvPr/>
        </p:nvSpPr>
        <p:spPr>
          <a:xfrm>
            <a:off x="728331" y="1426187"/>
            <a:ext cx="775379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Lack of numerical data w.r.t relevant cost and opportunity costs could affect optimal pricing and profitability calculations</a:t>
            </a:r>
          </a:p>
          <a:p>
            <a:endParaRPr lang="en-US" sz="16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Current lack of data w.r.t Marketing ROI for The company hinders optimal marketing strategy prediction</a:t>
            </a:r>
          </a:p>
          <a:p>
            <a:endParaRPr lang="en-US" sz="16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Budget for additional market research not accounted in budget planning</a:t>
            </a:r>
          </a:p>
        </p:txBody>
      </p:sp>
    </p:spTree>
    <p:extLst>
      <p:ext uri="{BB962C8B-B14F-4D97-AF65-F5344CB8AC3E}">
        <p14:creationId xmlns:p14="http://schemas.microsoft.com/office/powerpoint/2010/main" val="1563907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97;p95">
            <a:extLst>
              <a:ext uri="{FF2B5EF4-FFF2-40B4-BE49-F238E27FC236}">
                <a16:creationId xmlns:a16="http://schemas.microsoft.com/office/drawing/2014/main" id="{7DCA076D-C9F9-A937-7AB1-91E4C9C26AF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49308" y="265455"/>
            <a:ext cx="8111836" cy="57308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chemeClr val="tx2"/>
                </a:solidFill>
                <a:latin typeface="Bookman Old Style" panose="02050604050505020204" pitchFamily="18" charset="0"/>
              </a:rPr>
              <a:t>Immediate Action</a:t>
            </a:r>
            <a:endParaRPr lang="en-US" sz="2000" b="1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F9799-25B8-7B01-550E-75DF53C93D25}"/>
              </a:ext>
            </a:extLst>
          </p:cNvPr>
          <p:cNvSpPr txBox="1"/>
          <p:nvPr/>
        </p:nvSpPr>
        <p:spPr>
          <a:xfrm>
            <a:off x="728331" y="1426187"/>
            <a:ext cx="77537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Track fixed costs and variable costs for existing products</a:t>
            </a:r>
          </a:p>
          <a:p>
            <a:endParaRPr lang="en-US" sz="16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Conduct pricing analysis</a:t>
            </a:r>
          </a:p>
          <a:p>
            <a:endParaRPr lang="en-US" sz="1600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Bookman Old Style" panose="02050604050505020204" pitchFamily="18" charset="0"/>
              </a:rPr>
              <a:t>Record Marketing effects to understand Marketing ROI, customer acquisition and customer retention</a:t>
            </a:r>
          </a:p>
          <a:p>
            <a:endParaRPr lang="en-US" sz="1600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137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Google Shape;1617;p114">
            <a:extLst>
              <a:ext uri="{FF2B5EF4-FFF2-40B4-BE49-F238E27FC236}">
                <a16:creationId xmlns:a16="http://schemas.microsoft.com/office/drawing/2014/main" id="{4202ECA6-49C5-778B-EA8D-EA77F0EE506C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1954213" y="750888"/>
            <a:ext cx="5235575" cy="97155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Bookman Old Style" panose="02050604050505020204" pitchFamily="18" charset="0"/>
              <a:buNone/>
            </a:pPr>
            <a:r>
              <a:rPr lang="en-US" altLang="en-US" dirty="0">
                <a:solidFill>
                  <a:srgbClr val="003B71"/>
                </a:solidFill>
                <a:latin typeface="Bookman Old Style" panose="02050604050505020204" pitchFamily="18" charset="0"/>
                <a:cs typeface="Arial" panose="020B0604020202020204" pitchFamily="34" charset="0"/>
                <a:sym typeface="Bookman Old Style" panose="02050604050505020204" pitchFamily="18" charset="0"/>
              </a:rPr>
              <a:t>THANKS!</a:t>
            </a:r>
          </a:p>
        </p:txBody>
      </p:sp>
      <p:sp>
        <p:nvSpPr>
          <p:cNvPr id="185347" name="Google Shape;1618;p114">
            <a:extLst>
              <a:ext uri="{FF2B5EF4-FFF2-40B4-BE49-F238E27FC236}">
                <a16:creationId xmlns:a16="http://schemas.microsoft.com/office/drawing/2014/main" id="{FAD7C7A1-ABC7-5FD1-0054-A64C95778D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55800" y="1731963"/>
            <a:ext cx="5233988" cy="52228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3B71"/>
              </a:buClr>
              <a:buFont typeface="DM Sans" pitchFamily="2" charset="0"/>
              <a:buNone/>
            </a:pPr>
            <a:r>
              <a:rPr lang="en-US" altLang="en-US" dirty="0">
                <a:solidFill>
                  <a:srgbClr val="000000"/>
                </a:solidFill>
                <a:latin typeface="Raleway" pitchFamily="2" charset="0"/>
                <a:cs typeface="Arial" panose="020B0604020202020204" pitchFamily="34" charset="0"/>
                <a:sym typeface="Raleway" pitchFamily="2" charset="0"/>
              </a:rPr>
              <a:t>ANY QUESTIONS?</a:t>
            </a:r>
          </a:p>
        </p:txBody>
      </p:sp>
      <p:cxnSp>
        <p:nvCxnSpPr>
          <p:cNvPr id="185349" name="Google Shape;1620;p114">
            <a:extLst>
              <a:ext uri="{FF2B5EF4-FFF2-40B4-BE49-F238E27FC236}">
                <a16:creationId xmlns:a16="http://schemas.microsoft.com/office/drawing/2014/main" id="{4F61C975-3B0C-19C9-04CA-6ADF7B2623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9613" y="533400"/>
            <a:ext cx="7724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81723100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Target Achievement Consulting Toolkit by Slidesgo">
  <a:themeElements>
    <a:clrScheme name="Simple Light">
      <a:dk1>
        <a:srgbClr val="000000"/>
      </a:dk1>
      <a:lt1>
        <a:srgbClr val="EEEEEE"/>
      </a:lt1>
      <a:dk2>
        <a:srgbClr val="FFFFFF"/>
      </a:dk2>
      <a:lt2>
        <a:srgbClr val="003B71"/>
      </a:lt2>
      <a:accent1>
        <a:srgbClr val="FFD100"/>
      </a:accent1>
      <a:accent2>
        <a:srgbClr val="E9B30F"/>
      </a:accent2>
      <a:accent3>
        <a:srgbClr val="DCDDDE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313BFD1516340B1373186CD1FEA7B" ma:contentTypeVersion="17" ma:contentTypeDescription="Create a new document." ma:contentTypeScope="" ma:versionID="e64b75fb37177567366a9ec07d1dd0f2">
  <xsd:schema xmlns:xsd="http://www.w3.org/2001/XMLSchema" xmlns:xs="http://www.w3.org/2001/XMLSchema" xmlns:p="http://schemas.microsoft.com/office/2006/metadata/properties" xmlns:ns2="5e6efea7-4b19-4dc0-9f37-81ec222c17d4" xmlns:ns3="29490f09-8f18-4836-9d87-3dda0b0dbb7a" targetNamespace="http://schemas.microsoft.com/office/2006/metadata/properties" ma:root="true" ma:fieldsID="2bfbe711a17bd0e4321579f2b70f2e9d" ns2:_="" ns3:_="">
    <xsd:import namespace="5e6efea7-4b19-4dc0-9f37-81ec222c17d4"/>
    <xsd:import namespace="29490f09-8f18-4836-9d87-3dda0b0dbb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efea7-4b19-4dc0-9f37-81ec222c17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885dce6-195b-416a-ba54-3dd5b0a2ba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490f09-8f18-4836-9d87-3dda0b0dbb7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a9e3f91-a457-4902-af14-ec5f0e3fd09a}" ma:internalName="TaxCatchAll" ma:showField="CatchAllData" ma:web="29490f09-8f18-4836-9d87-3dda0b0dbb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AC6DA5-46C3-47B9-93C2-A5D208BB0348}">
  <ds:schemaRefs>
    <ds:schemaRef ds:uri="29490f09-8f18-4836-9d87-3dda0b0dbb7a"/>
    <ds:schemaRef ds:uri="5e6efea7-4b19-4dc0-9f37-81ec222c17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6C6B316-1F41-42E5-9931-6967BE37F0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2767</Words>
  <Application>Microsoft Macintosh PowerPoint</Application>
  <PresentationFormat>On-screen Show (16:9)</PresentationFormat>
  <Paragraphs>471</Paragraphs>
  <Slides>57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0" baseType="lpstr">
      <vt:lpstr>Bookman Old Style</vt:lpstr>
      <vt:lpstr>Lora</vt:lpstr>
      <vt:lpstr>DM Sans</vt:lpstr>
      <vt:lpstr>Open Sans</vt:lpstr>
      <vt:lpstr>Calibri</vt:lpstr>
      <vt:lpstr>Arial,Sans-Serif</vt:lpstr>
      <vt:lpstr>Wingdings</vt:lpstr>
      <vt:lpstr>Courier New,monospace</vt:lpstr>
      <vt:lpstr>Wingdings,Sans-Serif</vt:lpstr>
      <vt:lpstr>Courier New</vt:lpstr>
      <vt:lpstr>Raleway</vt:lpstr>
      <vt:lpstr>Arial</vt:lpstr>
      <vt:lpstr>Sales Target Achievement Consulting Toolkit by Slidesgo</vt:lpstr>
      <vt:lpstr>MARKET RESEARCH AND GTM STRATEGY</vt:lpstr>
      <vt:lpstr>EXECUTIVE SUMMARY</vt:lpstr>
      <vt:lpstr>RECOMMENDATIONS</vt:lpstr>
      <vt:lpstr>OVERVIEW</vt:lpstr>
      <vt:lpstr>SCOPE &amp; METHODOLOGY</vt:lpstr>
      <vt:lpstr>SCOPE OF ANALYSIS</vt:lpstr>
      <vt:lpstr>METHODOLOGY</vt:lpstr>
      <vt:lpstr>MARKET ANALYSIS</vt:lpstr>
      <vt:lpstr>UNDERSTANDING THE MARKET LANDSCAPE</vt:lpstr>
      <vt:lpstr>HOW WE IDENTIFIED OUR FOCUS CITIES</vt:lpstr>
      <vt:lpstr>PERSONALIZED INSIGHTS FROM CONTRACTORS</vt:lpstr>
      <vt:lpstr>RALEIGH: A BALANCED DIGITAL MARKET</vt:lpstr>
      <vt:lpstr>BOISE: A TRADITIONAL BUT EVOLVING MARKET</vt:lpstr>
      <vt:lpstr>SHARED CONTRACTOR CHALLENGES</vt:lpstr>
      <vt:lpstr>TRANSLATING INSIGHTS INTO STRATEGY</vt:lpstr>
      <vt:lpstr>OUR RECOMMENDATION</vt:lpstr>
      <vt:lpstr>COMPETITOR ANALYSIS</vt:lpstr>
      <vt:lpstr>Standing Out in Raleigh's Competitive Digital Marketing Landscape</vt:lpstr>
      <vt:lpstr>HOW WE IDENTIFIED COMPETITORS</vt:lpstr>
      <vt:lpstr>BLUEVINE</vt:lpstr>
      <vt:lpstr>NOVER MARKETING</vt:lpstr>
      <vt:lpstr>Builder Funnel</vt:lpstr>
      <vt:lpstr>JOHNSON JONES GROUP</vt:lpstr>
      <vt:lpstr>FATCAT STRATEGIES</vt:lpstr>
      <vt:lpstr>BUILDERS AGENCY</vt:lpstr>
      <vt:lpstr>Challenges in the Current Competitive Landscape</vt:lpstr>
      <vt:lpstr>Key Strengths to aim for in-order to stand Out</vt:lpstr>
      <vt:lpstr>ENTRY STRATEGY</vt:lpstr>
      <vt:lpstr>MARKET ENTRY STRATEGY </vt:lpstr>
      <vt:lpstr>OUR RECOMMENDATION</vt:lpstr>
      <vt:lpstr>Alternative Entry Strategies </vt:lpstr>
      <vt:lpstr>STRATEGY FOR RALEIGH</vt:lpstr>
      <vt:lpstr>STRATEGY FOR RALEIGH</vt:lpstr>
      <vt:lpstr>STRATEGY FOR RALEIGH</vt:lpstr>
      <vt:lpstr>MARKETING STRATEGY</vt:lpstr>
      <vt:lpstr>PRINT MEDIA ADVERTISING AND TRADE MAGAZINES FOR TARGETING CONTRACTORS</vt:lpstr>
      <vt:lpstr>PRINT MEDIA ADVERTISING AND TRADE MAGAZINES FOR TARGETING CONTRACTORS</vt:lpstr>
      <vt:lpstr>PARTNER WITH LOCAL CONTRACTOR ASSOCIATIONS TO EXPOSURE THE BRAND TO THE POTIENTIAL CLIENT</vt:lpstr>
      <vt:lpstr>PRINT MEDIA ADVERTISING AND TRADE MAGAZINES FOR TARGETING CONTRACTORS</vt:lpstr>
      <vt:lpstr>EFFECTIVE USE OF PRINT MEDIA ADVERTISING AND TRADE MAGAZINES FOR TARGETING CONTRACTORS</vt:lpstr>
      <vt:lpstr>BE THE PARTNER OF LOCAL CONTRACTOR ASSOCIATIONS TO EXPOSE THE BRAND TO THE POTENTIAL CLIENT</vt:lpstr>
      <vt:lpstr>TRACKING ROI</vt:lpstr>
      <vt:lpstr>Tracking ROI</vt:lpstr>
      <vt:lpstr>PowerPoint Presentation</vt:lpstr>
      <vt:lpstr>PowerPoint Presentation</vt:lpstr>
      <vt:lpstr>PowerPoint Presentation</vt:lpstr>
      <vt:lpstr>FINANCIAL MODEL &amp; BUDGET PLANNING</vt:lpstr>
      <vt:lpstr>FINANCIAL MODEL</vt:lpstr>
      <vt:lpstr>PowerPoint Presentation</vt:lpstr>
      <vt:lpstr>FINANCIAL MODEL</vt:lpstr>
      <vt:lpstr>$100,000 budget designed to ensure a strong market entry in Raleigh's competitive digital marketing sector.   Our plan emphasizes building a skilled team, establishing a functional presence, and driving impactful marketing efforts. </vt:lpstr>
      <vt:lpstr>PowerPoint Presentation</vt:lpstr>
      <vt:lpstr>Key Priorities and Justification</vt:lpstr>
      <vt:lpstr>RISKS</vt:lpstr>
      <vt:lpstr>RISKS</vt:lpstr>
      <vt:lpstr>Immediate Action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RPCN Info-Session-2023</dc:title>
  <dc:creator>Silvia Johncy</dc:creator>
  <cp:lastModifiedBy>dipita biswas</cp:lastModifiedBy>
  <cp:revision>9</cp:revision>
  <dcterms:modified xsi:type="dcterms:W3CDTF">2025-07-17T19:57:57Z</dcterms:modified>
</cp:coreProperties>
</file>